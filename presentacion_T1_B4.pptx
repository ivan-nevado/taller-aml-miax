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VFigRlR2dXeCAXA2RNBGJRinx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24B654-1F66-47AE-A2C1-E91C5C65C3A4}">
  <a:tblStyle styleId="{B124B654-1F66-47AE-A2C1-E91C5C65C3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f4fb7ed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f4fb7ed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77240" y="1078992"/>
            <a:ext cx="10789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T1_B4 — Diseño de Redes Confiables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26938" y="2313875"/>
            <a:ext cx="10537800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Predecir dificultades de pago manteniendo interpretabilidad, menor dependencia del género e incertidumbre asociada a la predicción.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47850" y="4634725"/>
            <a:ext cx="7067100" cy="15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Nevado Martín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orja Castelló Gimeno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Natalia San José Ortega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Puntos tratados en el notebook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31525" y="1352075"/>
            <a:ext cx="10433400" cy="47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1. EDA y preprocesado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Carga del CSV, nulos, distribución de TARGET, variables EXT_SOURCE y split train/val/test.</a:t>
            </a:r>
            <a:endParaRPr sz="18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2. Arquitectura custom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Capa RatioFinancieroLayer con ratios DSR/LTI y saturación matemática.</a:t>
            </a:r>
            <a:endParaRPr sz="13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3. FAIR Loss</a:t>
            </a:r>
            <a:endParaRPr b="1" sz="1600">
              <a:solidFill>
                <a:srgbClr val="1F6F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Función de coste custom: BCE ponderada + penalización por dependencia con género.</a:t>
            </a:r>
            <a:endParaRPr sz="13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4. AutoML / Pareto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Keras Tuner busca arquitectura y lambda_fair; análisis precisión vs justicia.</a:t>
            </a:r>
            <a:endParaRPr sz="13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6F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5. Incertidumbre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MC Dropout para obtener probabilidad media y varianza de predicción.</a:t>
            </a:r>
            <a:endParaRPr sz="13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1. EDA y preprocesado</a:t>
            </a:r>
            <a:endParaRPr/>
          </a:p>
        </p:txBody>
      </p:sp>
      <p:pic>
        <p:nvPicPr>
          <p:cNvPr descr="01_target_distribucion.p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95" y="1644938"/>
            <a:ext cx="5394949" cy="35681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6456550" y="1916625"/>
            <a:ext cx="5394900" cy="151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DDB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28000" spcFirstLastPara="1" rIns="12800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Claves</a:t>
            </a:r>
            <a:endParaRPr sz="1600">
              <a:solidFill>
                <a:srgbClr val="1F6FEB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Dataset desbalanceado: hay muchos más buenos pagadores que impagos. Las EXT_SOURCE tienen valores ausentes, especialmente EXT_SOURCE_1 y EXT_SOURCE_3, lo que motiva el análisis posterior de incertidumbre.</a:t>
            </a:r>
            <a:endParaRPr sz="1700"/>
          </a:p>
        </p:txBody>
      </p:sp>
      <p:sp>
        <p:nvSpPr>
          <p:cNvPr id="102" name="Google Shape;102;p3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456550" y="3736753"/>
            <a:ext cx="5202000" cy="16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28000" spcFirstLastPara="1" rIns="12800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Preparación</a:t>
            </a:r>
            <a:endParaRPr sz="17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Se separan X, y=TARGET y s=CODE_GENDER. Se imputan nulos, se escalan variables y se divide en train, validación y test. Las variables financieras también se guardan sin escalar para la capa custom.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4_histogramas_ext_source.png" id="108" name="Google Shape;108;g3ef4fb7ed7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75" y="3826250"/>
            <a:ext cx="11353901" cy="303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2_nulos_por_columna.png" id="109" name="Google Shape;109;g3ef4fb7ed7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997" y="594804"/>
            <a:ext cx="4698574" cy="264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2. Arquitectura customizada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685800" y="1234440"/>
            <a:ext cx="52120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Recibe variables financieras sin escalar: ingreso, crédito y anualidad.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Calcula ratios interpretables: DSR = anualidad/ingreso y LTI = crédito/ingreso.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Aplica saturación: sigmoid(alpha · (ratio − beta)).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salida queda acotada en (0, 1), evitando ratios extremos.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alpha y beta se aprenden, pero están limitados con CustomClipValue.</a:t>
            </a:r>
            <a:endParaRPr/>
          </a:p>
        </p:txBody>
      </p:sp>
      <p:pic>
        <p:nvPicPr>
          <p:cNvPr descr="08_curvas_loss_custom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143000"/>
            <a:ext cx="5074920" cy="28641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4"/>
          <p:cNvGraphicFramePr/>
          <p:nvPr/>
        </p:nvGraphicFramePr>
        <p:xfrm>
          <a:off x="822960" y="4892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{B124B654-1F66-47AE-A2C1-E91C5C65C3A4}</a:tableStyleId>
              </a:tblPr>
              <a:tblGrid>
                <a:gridCol w="1241975"/>
                <a:gridCol w="1241975"/>
                <a:gridCol w="1241975"/>
                <a:gridCol w="1241975"/>
              </a:tblGrid>
              <a:tr h="45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</a:tr>
              <a:tr h="45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0.6963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0.7404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0.2568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45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Custom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0.6941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0.7383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32323"/>
                          </a:solidFill>
                        </a:rPr>
                        <a:t>0.2550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4"/>
          <p:cNvSpPr/>
          <p:nvPr/>
        </p:nvSpPr>
        <p:spPr>
          <a:xfrm>
            <a:off x="6263650" y="4892054"/>
            <a:ext cx="5074800" cy="135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28000" spcFirstLastPara="1" rIns="12800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 sz="1600">
              <a:solidFill>
                <a:srgbClr val="1F6FEB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capa custom aporta interpretabilidad financiera. Aunque no mejora mucho las métricas, introduce una restricción matemática defendible y estable.</a:t>
            </a:r>
            <a:endParaRPr sz="1700"/>
          </a:p>
        </p:txBody>
      </p:sp>
      <p:sp>
        <p:nvSpPr>
          <p:cNvPr id="119" name="Google Shape;119;p4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3. Aprendizaje justo — FAIR Loss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5800" y="1143000"/>
            <a:ext cx="5486400" cy="86868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28000" spcFirstLastPara="1" rIns="12800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Función de coste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L_FAIR = BCE_ponderada + lambda_fair · Corr(y_pred, CODE_GENDER)^2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777240" y="2331720"/>
            <a:ext cx="5303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BCE ponderada mantiene la capacidad predictiva.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correlación de Pearson mide dependencia entre predicción y género.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Se usa el cuadrado para penalizar dependencia positiva o negativa.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lambda_fair controla cuánto pesa la justicia en el entrenamiento.</a:t>
            </a:r>
            <a:endParaRPr/>
          </a:p>
        </p:txBody>
      </p:sp>
      <p:pic>
        <p:nvPicPr>
          <p:cNvPr descr="10_curvas_fair_loss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1097280"/>
            <a:ext cx="4800600" cy="2706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_paridad_demografica.png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3794760"/>
            <a:ext cx="4343400" cy="24531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p5"/>
          <p:cNvGraphicFramePr/>
          <p:nvPr/>
        </p:nvGraphicFramePr>
        <p:xfrm>
          <a:off x="822960" y="4892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{B124B654-1F66-47AE-A2C1-E91C5C65C3A4}</a:tableStyleId>
              </a:tblPr>
              <a:tblGrid>
                <a:gridCol w="1348750"/>
                <a:gridCol w="1348750"/>
                <a:gridCol w="1348750"/>
                <a:gridCol w="13487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|Corr|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Brecha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6FE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Custom+BCE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0.7383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0.2227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0.0891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FAIR λ=0.2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0.7357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0.0649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0.0267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5"/>
          <p:cNvSpPr/>
          <p:nvPr/>
        </p:nvSpPr>
        <p:spPr>
          <a:xfrm>
            <a:off x="502920" y="6327648"/>
            <a:ext cx="11155680" cy="18288"/>
          </a:xfrm>
          <a:prstGeom prst="rect">
            <a:avLst/>
          </a:prstGeom>
          <a:solidFill>
            <a:srgbClr val="E1E6EC"/>
          </a:solidFill>
          <a:ln cap="flat" cmpd="sng" w="9525">
            <a:solidFill>
              <a:srgbClr val="E1E6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4. AutoML con Keras Tuner y curva de Pareto</a:t>
            </a:r>
            <a:endParaRPr/>
          </a:p>
        </p:txBody>
      </p:sp>
      <p:pic>
        <p:nvPicPr>
          <p:cNvPr descr="12_pareto_precision_vs_fairness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260" y="913000"/>
            <a:ext cx="5897880" cy="40458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6"/>
          <p:cNvGraphicFramePr/>
          <p:nvPr/>
        </p:nvGraphicFramePr>
        <p:xfrm>
          <a:off x="6999090" y="1104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{B124B654-1F66-47AE-A2C1-E91C5C65C3A4}</a:tableStyleId>
              </a:tblPr>
              <a:tblGrid>
                <a:gridCol w="1210525"/>
                <a:gridCol w="1210525"/>
                <a:gridCol w="1210525"/>
                <a:gridCol w="1210525"/>
              </a:tblGrid>
              <a:tr h="46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|Corr|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Brecha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8060"/>
                    </a:solidFill>
                  </a:tcPr>
                </a:tc>
              </a:tr>
              <a:tr h="81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</a:rPr>
                        <a:t>Baseline sin FAIR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(Custom+BCE)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0.7383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0.2227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0.0891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81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Mejor FAIR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Tuner λ=0.5861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0.7338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0.0207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232323"/>
                          </a:solidFill>
                        </a:rPr>
                        <a:t>0.0080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6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6999100" y="3531100"/>
            <a:ext cx="4842000" cy="28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sz="1600">
              <a:solidFill>
                <a:srgbClr val="1F6FEB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El mejor modelo FAIR reduce muchísimo la dependencia con género. El coste predictivo es pequeño: el ROC-AUC baja solo 0.0045 puntos.</a:t>
            </a:r>
            <a:endParaRPr sz="16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Cómo se elige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No se selecciona el modelo más preciso ni el más justo extremo, sino el mejor AUC entre los modelos con dependencia por debajo de la mediana.</a:t>
            </a:r>
            <a:endParaRPr sz="16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5. Incertidumbre con MC Dropout</a:t>
            </a:r>
            <a:endParaRPr/>
          </a:p>
        </p:txBody>
      </p:sp>
      <p:pic>
        <p:nvPicPr>
          <p:cNvPr descr="14_curvas_loss_mc_dropout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143000"/>
            <a:ext cx="5166360" cy="2912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_incertidumbre_por_clase.png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143000"/>
            <a:ext cx="5212080" cy="294442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843300" y="4462325"/>
            <a:ext cx="10642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Se hacen 50 pasadas por cliente manteniendo Dropout activo. La media es la probabilidad final y la varianza mide la incertidumbre.</a:t>
            </a:r>
            <a:endParaRPr sz="16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Resultado por clase</a:t>
            </a:r>
            <a:endParaRPr sz="1600">
              <a:solidFill>
                <a:srgbClr val="1F6FEB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Las distribuciones de buenos y malos pagadores se solapan mucho. El modelo no parece más inseguro sistemáticamente para una clase.</a:t>
            </a:r>
            <a:endParaRPr sz="16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6. Calidad de EXT_SOURCE e incertidumbre</a:t>
            </a:r>
            <a:endParaRPr/>
          </a:p>
        </p:txBody>
      </p:sp>
      <p:pic>
        <p:nvPicPr>
          <p:cNvPr descr="11_incertidumbre_vs_extsource.png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143000"/>
            <a:ext cx="5669280" cy="320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6629400" y="1325880"/>
            <a:ext cx="466344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Hipótesis esperada: más EXT_SOURCE imputadas → más incertidumbre.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Resultado observado: ocurre lo contrario; la incertidumbre baja.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0 imputadas ≈ 0.0033; 1 ≈ 0.0028; 2 ≈ 0.0025; 3 ≈ 0.0018.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Explicación: la mediana agrupa clientes en zonas muy conocidas para el modelo.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Mejora: añadir indicadores de ausencia por cada EXT_SOURCE.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1173250" y="5006338"/>
            <a:ext cx="10119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Conclusión clave</a:t>
            </a:r>
            <a:endParaRPr>
              <a:solidFill>
                <a:srgbClr val="1F6FEB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El modelo puede mostrarse falsamente seguro cuando la información original era peor. La incertidumbre depende también del preprocesado.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74A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914400" y="1234440"/>
            <a:ext cx="102412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capa custom introduce ratios financieros interpretables y una restricción matemática estable.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FAIR Loss reduce la dependencia con género manteniendo casi intacto el rendimiento.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Keras Tuner permite visualizar y elegir el compromiso precisión–justicia.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MC Dropout añade una medida de incertidumbre a cada predicción.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imputación por mediana puede hacer que el modelo parezca demasiado seguro: conviene añadir indicadores de nulos.</a:t>
            </a:r>
            <a:endParaRPr b="0" i="0" sz="22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No basta con maximizar precisión: un modelo fiable también debe controlar sesgos y reconocer cuándo la información de entrada es débil.</a:t>
            </a:r>
            <a:endParaRPr sz="22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10835640" y="638251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