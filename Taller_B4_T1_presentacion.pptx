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AUC (val)</c:v>
                </c:pt>
              </c:strCache>
            </c:strRef>
          </c:tx>
          <c:spPr>
            <a:solidFill>
              <a:srgbClr val="00A896"/>
            </a:solidFill>
            <a:ln>
              <a:noFill/>
            </a:ln>
            <a:effectLst/>
          </c:spPr>
          <c:marker>
            <c:symbol val="circle"/>
            <c:size val="8"/>
            <c:spPr>
              <a:solidFill>
                <a:srgbClr val="00A896"/>
              </a:solidFill>
              <a:ln w="9525" cap="flat">
                <a:solidFill>
                  <a:srgbClr val="00A896"/>
                </a:solidFill>
                <a:prstDash val="solid"/>
                <a:round/>
              </a:ln>
              <a:effectLst/>
            </c:spPr>
          </c:marker>
          <c:xVal>
            <c:numRef>
              <c:f>Sheet1!$A$2:$A$16</c:f>
              <c:numCache>
                <c:formatCode>General</c:formatCode>
                <c:ptCount val="15"/>
                <c:pt idx="0">
                  <c:v>0.1554</c:v>
                </c:pt>
                <c:pt idx="1">
                  <c:v>0.1109</c:v>
                </c:pt>
                <c:pt idx="2">
                  <c:v>0.1029</c:v>
                </c:pt>
                <c:pt idx="3">
                  <c:v>0.154</c:v>
                </c:pt>
                <c:pt idx="4">
                  <c:v>0.1243</c:v>
                </c:pt>
                <c:pt idx="5">
                  <c:v>0.121</c:v>
                </c:pt>
                <c:pt idx="6">
                  <c:v>0.0393</c:v>
                </c:pt>
                <c:pt idx="7">
                  <c:v>0.0367</c:v>
                </c:pt>
                <c:pt idx="8">
                  <c:v>0.0173</c:v>
                </c:pt>
                <c:pt idx="9">
                  <c:v>0.0086</c:v>
                </c:pt>
                <c:pt idx="10">
                  <c:v>0.0461</c:v>
                </c:pt>
                <c:pt idx="11">
                  <c:v>0.0664</c:v>
                </c:pt>
                <c:pt idx="12">
                  <c:v>0.0333</c:v>
                </c:pt>
                <c:pt idx="13">
                  <c:v>0.0302</c:v>
                </c:pt>
                <c:pt idx="14">
                  <c:v>0.027</c:v>
                </c:pt>
              </c:numCache>
            </c:numRef>
          </c:xVal>
          <c:yVal>
            <c:numRef>
              <c:f>Sheet1!$B$2:$B$16</c:f>
              <c:numCache>
                <c:formatCode>General</c:formatCode>
                <c:ptCount val="15"/>
                <c:pt idx="0">
                  <c:v>0.7385</c:v>
                </c:pt>
                <c:pt idx="1">
                  <c:v>0.7381</c:v>
                </c:pt>
                <c:pt idx="2">
                  <c:v>0.7375</c:v>
                </c:pt>
                <c:pt idx="3">
                  <c:v>0.7368</c:v>
                </c:pt>
                <c:pt idx="4">
                  <c:v>0.7362</c:v>
                </c:pt>
                <c:pt idx="5">
                  <c:v>0.7352</c:v>
                </c:pt>
                <c:pt idx="6">
                  <c:v>0.7345</c:v>
                </c:pt>
                <c:pt idx="7">
                  <c:v>0.7338</c:v>
                </c:pt>
                <c:pt idx="8">
                  <c:v>0.7338</c:v>
                </c:pt>
                <c:pt idx="9">
                  <c:v>0.7338</c:v>
                </c:pt>
                <c:pt idx="10">
                  <c:v>0.7337</c:v>
                </c:pt>
                <c:pt idx="11">
                  <c:v>0.7337</c:v>
                </c:pt>
                <c:pt idx="12">
                  <c:v>0.7335</c:v>
                </c:pt>
                <c:pt idx="13">
                  <c:v>0.7328</c:v>
                </c:pt>
                <c:pt idx="14">
                  <c:v>0.7324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DF4F4"/>
              </a:solidFill>
              <a:prstDash val="solid"/>
              <a:round/>
            </a:ln>
          </c:spPr>
        </c:majorGridlines>
        <c:title>
          <c:tx>
            <c:rich>
              <a:bodyPr/>
              <a:lstStyle/>
              <a:p>
                <a:pPr>
                  <a:defRPr sz="1000" b="0" i="0" u="none" strike="noStrike">
                    <a:solidFill>
                      <a:srgbClr val="5B7B82"/>
                    </a:solidFill>
                    <a:latin typeface="Arial"/>
                  </a:defRPr>
                </a:pPr>
                <a:r>
                  <a:rPr sz="1000" b="0" i="0" u="none" strike="noStrike">
                    <a:solidFill>
                      <a:srgbClr val="5B7B82"/>
                    </a:solidFill>
                    <a:latin typeface="Arial"/>
                  </a:rPr>
                  <a:t>|Corr(predicción, sexo)|  →  menos dependencia</a:t>
                </a:r>
              </a:p>
            </c:rich>
          </c:tx>
          <c:layout/>
          <c:overlay val="0"/>
        </c:title>
        <c:numFmt formatCode="0.000"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5B7B82"/>
                </a:solidFill>
                <a:latin typeface="Arial"/>
              </a:defRPr>
            </a:pPr>
            <a:endParaRPr lang="en-US"/>
          </a:p>
        </c:txPr>
        <c:crossAx val="2094734552"/>
        <c:crosses val="autoZero"/>
        <c:auto val="1"/>
        <c:lblAlgn val="ctr"/>
        <c:noMultiLvlLbl val="1"/>
      </c:valAx>
      <c:valAx>
        <c:axId val="2094734552"/>
        <c:scaling>
          <c:orientation val="minMax"/>
          <c:max val="0.74"/>
          <c:min val="0.731"/>
        </c:scaling>
        <c:delete val="0"/>
        <c:axPos val="l"/>
        <c:majorGridlines>
          <c:spPr>
            <a:ln w="6350" cap="flat">
              <a:solidFill>
                <a:srgbClr val="E2EDED"/>
              </a:solidFill>
              <a:prstDash val="solid"/>
              <a:round/>
            </a:ln>
          </c:spPr>
        </c:majorGridlines>
        <c:title>
          <c:tx>
            <c:rich>
              <a:bodyPr/>
              <a:lstStyle/>
              <a:p>
                <a:pPr>
                  <a:defRPr sz="1000" b="0" i="0" u="none" strike="noStrike">
                    <a:solidFill>
                      <a:srgbClr val="5B7B82"/>
                    </a:solidFill>
                    <a:latin typeface="Arial"/>
                  </a:defRPr>
                </a:pPr>
                <a:r>
                  <a:rPr sz="1000" b="0" i="0" u="none" strike="noStrike">
                    <a:solidFill>
                      <a:srgbClr val="5B7B82"/>
                    </a:solidFill>
                    <a:latin typeface="Arial"/>
                  </a:rPr>
                  <a:t>AUC en validación</a:t>
                </a:r>
              </a:p>
            </c:rich>
          </c:tx>
          <c:layout/>
          <c:overlay val="0"/>
        </c:title>
        <c:numFmt formatCode="0.000"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5B7B82"/>
                </a:solidFill>
                <a:latin typeface="Arial"/>
              </a:defRPr>
            </a:pPr>
            <a:endParaRPr lang="en-US"/>
          </a:p>
        </c:txPr>
        <c:crossAx val="2094734554"/>
        <c:crosses val="autoZero"/>
        <c:crossBetween val="midCat"/>
        <c:majorUnit val="0.002"/>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Incertidumbre media (varianza ×10⁻³)</c:v>
                </c:pt>
              </c:strCache>
            </c:strRef>
          </c:tx>
          <c:spPr>
            <a:solidFill>
              <a:srgbClr val="DB8A2E"/>
            </a:solidFill>
            <a:effectLst/>
          </c:spPr>
          <c:invertIfNegative val="0"/>
          <c:dLbls>
            <c:numFmt formatCode="0.00" sourceLinked="0"/>
            <c:txPr>
              <a:bodyPr/>
              <a:lstStyle/>
              <a:p>
                <a:pPr>
                  <a:defRPr b="0" i="0" strike="noStrike" sz="1100" u="none">
                    <a:solidFill>
                      <a:srgbClr val="0E2E33"/>
                    </a:solidFill>
                    <a:latin typeface="Arial"/>
                  </a:defRPr>
                </a:pPr>
              </a:p>
            </c:txPr>
            <c:showLegendKey val="0"/>
            <c:showVal val="1"/>
            <c:showCatName val="0"/>
            <c:showSerName val="0"/>
            <c:showPercent val="0"/>
            <c:showBubbleSize val="0"/>
            <c:showLeaderLines val="0"/>
          </c:dLbls>
          <c:cat>
            <c:multiLvlStrRef>
              <c:f>Sheet1!$A$2:$A$5</c:f>
              <c:multiLvlStrCache>
                <c:ptCount val="4"/>
                <c:lvl>
                  <c:pt idx="0">
                    <c:v>0 imputadas</c:v>
                  </c:pt>
                  <c:pt idx="1">
                    <c:v>1 imputada</c:v>
                  </c:pt>
                  <c:pt idx="2">
                    <c:v>2 imputadas</c:v>
                  </c:pt>
                  <c:pt idx="3">
                    <c:v>3 (n=20)</c:v>
                  </c:pt>
                </c:lvl>
              </c:multiLvlStrCache>
            </c:multiLvlStrRef>
          </c:cat>
          <c:val>
            <c:numRef>
              <c:f>Sheet1!$B$2:$B$5</c:f>
              <c:numCache>
                <c:formatCode>General</c:formatCode>
                <c:ptCount val="4"/>
                <c:pt idx="0">
                  <c:v>3.09</c:v>
                </c:pt>
                <c:pt idx="1">
                  <c:v>2.74</c:v>
                </c:pt>
                <c:pt idx="2">
                  <c:v>2.4</c:v>
                </c:pt>
                <c:pt idx="3">
                  <c:v>1.79</c:v>
                </c:pt>
              </c:numCache>
            </c:numRef>
          </c:val>
        </c:ser>
        <c:dLbls>
          <c:numFmt formatCode="0.00" sourceLinked="0"/>
          <c:txPr>
            <a:bodyPr/>
            <a:lstStyle/>
            <a:p>
              <a:pPr>
                <a:defRPr b="0" i="0" strike="noStrike" sz="1100" u="none">
                  <a:solidFill>
                    <a:srgbClr val="0E2E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7B82"/>
                    </a:solidFill>
                    <a:latin typeface="Arial"/>
                  </a:defRPr>
                </a:pPr>
                <a:r>
                  <a:rPr sz="1000" b="0" i="0" u="none" strike="noStrike">
                    <a:solidFill>
                      <a:srgbClr val="5B7B82"/>
                    </a:solidFill>
                    <a:latin typeface="Arial"/>
                  </a:rPr>
                  <a:t>nº de EXT_SOURCE imputadas (→ peor calidad del dato)</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E2E33"/>
                </a:solidFill>
                <a:latin typeface="Arial"/>
              </a:defRPr>
            </a:pPr>
            <a:endParaRPr lang="en-US"/>
          </a:p>
        </c:txPr>
        <c:crossAx val="2094734552"/>
        <c:crosses val="autoZero"/>
        <c:auto val="1"/>
        <c:lblAlgn val="ctr"/>
        <c:noMultiLvlLbl val="1"/>
      </c:catAx>
      <c:valAx>
        <c:axId val="2094734552"/>
        <c:scaling>
          <c:orientation val="minMax"/>
          <c:max val="3.6"/>
          <c:min val="0"/>
        </c:scaling>
        <c:delete val="0"/>
        <c:axPos val="l"/>
        <c:majorGridlines>
          <c:spPr>
            <a:ln w="6350" cap="flat">
              <a:solidFill>
                <a:srgbClr val="EFE6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B8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5 min. Dataset Home Credit: predecir impago (TARGET), 8% de impagos. Recorremos 3 puntos: (1) qué restricción matemática mete la capa custom y qué métrica de dependencia usa la Loss; (2) cuánto rendimiento sacrificamos por ser justos (Pareto); (3) si el modelo es más inseguro cuando las EXT_SOURCE son peores.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1. La capa custom no es 'una columna más': mete una restricción matemática dentro de la red. Calcula DSR y LTI con euros reales (por eso usamos API funcional de 2 entradas, para no dividir entre ~0 tras escalar) y los pasa por una sigmoide que acota la salida a (0,1). α (pendiente) y β (umbral económico) los aprende la red, pero un Constraint propio los mantiene en rango (α en [0.1,10], β en [0,30]). La Loss FAIR añade a la crossentropy una penalización: el cuadrado de la correlación de Pearson entre la predicción y el género, calculada en cada batch. Vale 0 si no hay dependencia. Es diferenciable porque se calcula sobre la probabilidad continua, no sobre la clase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2. La gráfica de Pareto enfrenta AUC (eje Y) contra dependencia con el género (eje X) sobre las 25 configuraciones que probó Keras Tuner. La clave: la frontera es casi plana. Eso significa que reducir la dependencia apenas cuesta rendimiento. En TEST, pasar del modelo sin restricción (Custom) al mejor FAIR del Tuner (λ≈0.59) baja el AUC solo 0.005 (0.738→0.734, dentro del ruido), mientras la correlación con el sexo cae de 0.22 a 0.02, casi 90-90% menos, y la brecha de paridad de 0.089 a 0.008. Conclusión: en este problema la justicia sale baratísima, porque la señal predictiva fuerte está en las EXT_SOURCE, no en el género.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3. Con MC Dropout (dejamos el dropout activo en inferencia, 50 pasadas) cada cliente sale con clase predicha (media) e incertidumbre (varianza). Entre buen y mal pagador la varianza es casi igual (~0.0029 vs 0.0027), no hay sesgo por clase. Lo interesante: agrupando por nº de EXT_SOURCE imputadas, la varianza BAJA cuanto peor es el dato (0→3.09, 1→2.74, 2→2.40, 3→1.79 ×10⁻³). Es lo contrario de lo esperable. Causa: la imputación por mediana mete a todos esos clientes en el mismo punto, una zona densísima del espacio donde el modelo ha visto muchísimos ejemplos, así que el dropout apenas mueve la predicción. La imputación 'tapa' la ausencia y vuelve al modelo falsamente seguro justo donde el dato es menos fiable. (El grupo de 3 imputadas son solo 20 casos; la tendencia clara está en 0/1/2 con miles cada uno.) Mejora: añadir una columna indicadora de 'fue imputado' por cada EXT_SOURCE.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3 ideas: (1) la capa mete una restricción matemática real (sigmoide acotada) y la Loss usa la correlación de Pearson al cuadrado como métrica de dependencia; (2) la justicia es barata aquí —~90% menos dependencia por 0.005 de AUC—; (3) ojo con la falsa seguridad: la imputación por mediana hace que el modelo dude menos justo donde el dato es peor; lo arreglaríamos marcando la ausencia.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D44"/>
        </a:solidFill>
      </p:bgPr>
    </p:bg>
    <p:spTree>
      <p:nvGrpSpPr>
        <p:cNvPr id="1" name=""/>
        <p:cNvGrpSpPr/>
        <p:nvPr/>
      </p:nvGrpSpPr>
      <p:grpSpPr>
        <a:xfrm>
          <a:off x="0" y="0"/>
          <a:ext cx="0" cy="0"/>
          <a:chOff x="0" y="0"/>
          <a:chExt cx="0" cy="0"/>
        </a:xfrm>
      </p:grpSpPr>
      <p:sp>
        <p:nvSpPr>
          <p:cNvPr id="2" name="Shape 0"/>
          <p:cNvSpPr/>
          <p:nvPr/>
        </p:nvSpPr>
        <p:spPr>
          <a:xfrm>
            <a:off x="6400800" y="-1463040"/>
            <a:ext cx="4389120" cy="4389120"/>
          </a:xfrm>
          <a:prstGeom prst="ellipse">
            <a:avLst/>
          </a:prstGeom>
          <a:solidFill>
            <a:srgbClr val="028090">
              <a:alpha val="20000"/>
            </a:srgbClr>
          </a:solidFill>
          <a:ln/>
        </p:spPr>
      </p:sp>
      <p:sp>
        <p:nvSpPr>
          <p:cNvPr id="3" name="Shape 1"/>
          <p:cNvSpPr/>
          <p:nvPr/>
        </p:nvSpPr>
        <p:spPr>
          <a:xfrm>
            <a:off x="7498080" y="2377440"/>
            <a:ext cx="3291840" cy="3291840"/>
          </a:xfrm>
          <a:prstGeom prst="ellipse">
            <a:avLst/>
          </a:prstGeom>
          <a:solidFill>
            <a:srgbClr val="00A896">
              <a:alpha val="14000"/>
            </a:srgbClr>
          </a:solidFill>
          <a:ln/>
        </p:spPr>
      </p:sp>
      <p:sp>
        <p:nvSpPr>
          <p:cNvPr id="4" name="Shape 2"/>
          <p:cNvSpPr/>
          <p:nvPr/>
        </p:nvSpPr>
        <p:spPr>
          <a:xfrm>
            <a:off x="502920" y="502920"/>
            <a:ext cx="777240" cy="777240"/>
          </a:xfrm>
          <a:prstGeom prst="ellipse">
            <a:avLst/>
          </a:prstGeom>
          <a:solidFill>
            <a:srgbClr val="00A896"/>
          </a:solidFill>
          <a:ln/>
          <a:effectLst>
            <a:outerShdw sx="100000" sy="100000" kx="0" ky="0" algn="bl" rotWithShape="0" blurRad="88900" dist="38100" dir="5400000">
              <a:srgbClr val="0A3D44">
                <a:alpha val="16000"/>
              </a:srgbClr>
            </a:outerShdw>
          </a:effectLst>
        </p:spPr>
      </p:sp>
      <p:pic>
        <p:nvPicPr>
          <p:cNvPr id="5" name="Image 0" descr="preencoded.png">    </p:cNvPr>
          <p:cNvPicPr>
            <a:picLocks noChangeAspect="1"/>
          </p:cNvPicPr>
          <p:nvPr/>
        </p:nvPicPr>
        <p:blipFill>
          <a:blip r:embed="rId1"/>
          <a:stretch>
            <a:fillRect/>
          </a:stretch>
        </p:blipFill>
        <p:spPr>
          <a:xfrm>
            <a:off x="690372" y="690372"/>
            <a:ext cx="411480" cy="411480"/>
          </a:xfrm>
          <a:prstGeom prst="rect">
            <a:avLst/>
          </a:prstGeom>
        </p:spPr>
      </p:pic>
      <p:sp>
        <p:nvSpPr>
          <p:cNvPr id="6" name="Text 3"/>
          <p:cNvSpPr/>
          <p:nvPr/>
        </p:nvSpPr>
        <p:spPr>
          <a:xfrm>
            <a:off x="502920" y="1783080"/>
            <a:ext cx="5486400" cy="365760"/>
          </a:xfrm>
          <a:prstGeom prst="rect">
            <a:avLst/>
          </a:prstGeom>
          <a:noFill/>
          <a:ln/>
        </p:spPr>
        <p:txBody>
          <a:bodyPr wrap="square" lIns="0" tIns="0" rIns="0" bIns="0"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TALLER B4 · T1</a:t>
            </a:r>
            <a:endParaRPr lang="en-US" sz="1400" dirty="0"/>
          </a:p>
        </p:txBody>
      </p:sp>
      <p:sp>
        <p:nvSpPr>
          <p:cNvPr id="7" name="Text 4"/>
          <p:cNvSpPr/>
          <p:nvPr/>
        </p:nvSpPr>
        <p:spPr>
          <a:xfrm>
            <a:off x="457200" y="2148840"/>
            <a:ext cx="7863840" cy="777240"/>
          </a:xfrm>
          <a:prstGeom prst="rect">
            <a:avLst/>
          </a:prstGeom>
          <a:noFill/>
          <a:ln/>
        </p:spPr>
        <p:txBody>
          <a:bodyPr wrap="square" lIns="0" tIns="0" rIns="0" bIns="0" rtlCol="0" anchor="ctr"/>
          <a:lstStyle/>
          <a:p>
            <a:pPr indent="0" marL="0">
              <a:buNone/>
            </a:pPr>
            <a:r>
              <a:rPr lang="en-US" sz="4100" b="1" dirty="0">
                <a:solidFill>
                  <a:srgbClr val="FFFFFF"/>
                </a:solidFill>
                <a:latin typeface="Cambria" pitchFamily="34" charset="0"/>
                <a:ea typeface="Cambria" pitchFamily="34" charset="-122"/>
                <a:cs typeface="Cambria" pitchFamily="34" charset="-120"/>
              </a:rPr>
              <a:t>Diseño de Redes Confiables</a:t>
            </a:r>
            <a:endParaRPr lang="en-US" sz="4100" dirty="0"/>
          </a:p>
        </p:txBody>
      </p:sp>
      <p:sp>
        <p:nvSpPr>
          <p:cNvPr id="8" name="Text 5"/>
          <p:cNvSpPr/>
          <p:nvPr/>
        </p:nvSpPr>
        <p:spPr>
          <a:xfrm>
            <a:off x="457200" y="2907792"/>
            <a:ext cx="7863840" cy="640080"/>
          </a:xfrm>
          <a:prstGeom prst="rect">
            <a:avLst/>
          </a:prstGeom>
          <a:noFill/>
          <a:ln/>
        </p:spPr>
        <p:txBody>
          <a:bodyPr wrap="square" lIns="0" tIns="0" rIns="0" bIns="0" rtlCol="0" anchor="ctr"/>
          <a:lstStyle/>
          <a:p>
            <a:pPr indent="0" marL="0">
              <a:buNone/>
            </a:pPr>
            <a:r>
              <a:rPr lang="en-US" sz="3100" i="1" dirty="0">
                <a:solidFill>
                  <a:srgbClr val="9FD4D0"/>
                </a:solidFill>
                <a:latin typeface="Cambria" pitchFamily="34" charset="0"/>
                <a:ea typeface="Cambria" pitchFamily="34" charset="-122"/>
                <a:cs typeface="Cambria" pitchFamily="34" charset="-120"/>
              </a:rPr>
              <a:t>Justicia e Incertidumbre</a:t>
            </a:r>
            <a:endParaRPr lang="en-US" sz="3100" dirty="0"/>
          </a:p>
        </p:txBody>
      </p:sp>
      <p:sp>
        <p:nvSpPr>
          <p:cNvPr id="9" name="Text 6"/>
          <p:cNvSpPr/>
          <p:nvPr/>
        </p:nvSpPr>
        <p:spPr>
          <a:xfrm>
            <a:off x="502920" y="3703320"/>
            <a:ext cx="7863840" cy="365760"/>
          </a:xfrm>
          <a:prstGeom prst="rect">
            <a:avLst/>
          </a:prstGeom>
          <a:noFill/>
          <a:ln/>
        </p:spPr>
        <p:txBody>
          <a:bodyPr wrap="square" lIns="0" tIns="0" rIns="0" bIns="0" rtlCol="0" anchor="ctr"/>
          <a:lstStyle/>
          <a:p>
            <a:pPr indent="0" marL="0">
              <a:buNone/>
            </a:pPr>
            <a:r>
              <a:rPr lang="en-US" sz="1350" dirty="0">
                <a:solidFill>
                  <a:srgbClr val="9FD4D0"/>
                </a:solidFill>
                <a:latin typeface="Calibri" pitchFamily="34" charset="0"/>
                <a:ea typeface="Calibri" pitchFamily="34" charset="-122"/>
                <a:cs typeface="Calibri" pitchFamily="34" charset="-120"/>
              </a:rPr>
              <a:t>Riesgo de crédito (Home Credit) · Capa custom + FAIR Loss + MC Dropout</a:t>
            </a:r>
            <a:endParaRPr lang="en-US" sz="1350" dirty="0"/>
          </a:p>
        </p:txBody>
      </p:sp>
      <p:sp>
        <p:nvSpPr>
          <p:cNvPr id="10" name="Shape 7"/>
          <p:cNvSpPr/>
          <p:nvPr/>
        </p:nvSpPr>
        <p:spPr>
          <a:xfrm>
            <a:off x="502920" y="4315968"/>
            <a:ext cx="2542032" cy="457200"/>
          </a:xfrm>
          <a:prstGeom prst="roundRect">
            <a:avLst>
              <a:gd name="adj" fmla="val 16000"/>
            </a:avLst>
          </a:prstGeom>
          <a:solidFill>
            <a:srgbClr val="0F4C54"/>
          </a:solidFill>
          <a:ln w="12700">
            <a:solidFill>
              <a:srgbClr val="028090"/>
            </a:solidFill>
            <a:prstDash val="solid"/>
          </a:ln>
        </p:spPr>
      </p:sp>
      <p:sp>
        <p:nvSpPr>
          <p:cNvPr id="11" name="Text 8"/>
          <p:cNvSpPr/>
          <p:nvPr/>
        </p:nvSpPr>
        <p:spPr>
          <a:xfrm>
            <a:off x="502920" y="4315968"/>
            <a:ext cx="2542032"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 Restricción + métrica FAIR</a:t>
            </a:r>
            <a:endParaRPr lang="en-US" sz="1100" dirty="0"/>
          </a:p>
        </p:txBody>
      </p:sp>
      <p:sp>
        <p:nvSpPr>
          <p:cNvPr id="12" name="Shape 9"/>
          <p:cNvSpPr/>
          <p:nvPr/>
        </p:nvSpPr>
        <p:spPr>
          <a:xfrm>
            <a:off x="3200400" y="4315968"/>
            <a:ext cx="2542032" cy="457200"/>
          </a:xfrm>
          <a:prstGeom prst="roundRect">
            <a:avLst>
              <a:gd name="adj" fmla="val 16000"/>
            </a:avLst>
          </a:prstGeom>
          <a:solidFill>
            <a:srgbClr val="0F4C54"/>
          </a:solidFill>
          <a:ln w="12700">
            <a:solidFill>
              <a:srgbClr val="028090"/>
            </a:solidFill>
            <a:prstDash val="solid"/>
          </a:ln>
        </p:spPr>
      </p:sp>
      <p:sp>
        <p:nvSpPr>
          <p:cNvPr id="13" name="Text 10"/>
          <p:cNvSpPr/>
          <p:nvPr/>
        </p:nvSpPr>
        <p:spPr>
          <a:xfrm>
            <a:off x="3200400" y="4315968"/>
            <a:ext cx="2542032"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 Curva de Pareto</a:t>
            </a:r>
            <a:endParaRPr lang="en-US" sz="1100" dirty="0"/>
          </a:p>
        </p:txBody>
      </p:sp>
      <p:sp>
        <p:nvSpPr>
          <p:cNvPr id="14" name="Shape 11"/>
          <p:cNvSpPr/>
          <p:nvPr/>
        </p:nvSpPr>
        <p:spPr>
          <a:xfrm>
            <a:off x="5897880" y="4315968"/>
            <a:ext cx="2542032" cy="457200"/>
          </a:xfrm>
          <a:prstGeom prst="roundRect">
            <a:avLst>
              <a:gd name="adj" fmla="val 16000"/>
            </a:avLst>
          </a:prstGeom>
          <a:solidFill>
            <a:srgbClr val="0F4C54"/>
          </a:solidFill>
          <a:ln w="12700">
            <a:solidFill>
              <a:srgbClr val="028090"/>
            </a:solidFill>
            <a:prstDash val="solid"/>
          </a:ln>
        </p:spPr>
      </p:sp>
      <p:sp>
        <p:nvSpPr>
          <p:cNvPr id="15" name="Text 12"/>
          <p:cNvSpPr/>
          <p:nvPr/>
        </p:nvSpPr>
        <p:spPr>
          <a:xfrm>
            <a:off x="5897880" y="4315968"/>
            <a:ext cx="2542032"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 Incertidumbre vs EXT_SOURCE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028090"/>
          </a:solidFill>
          <a:ln/>
          <a:effectLst>
            <a:outerShdw sx="100000" sy="100000" kx="0" ky="0" algn="bl" rotWithShape="0" blurRad="88900" dist="38100" dir="5400000">
              <a:srgbClr val="0A3D44">
                <a:alpha val="16000"/>
              </a:srgbClr>
            </a:outerShdw>
          </a:effectLst>
        </p:spPr>
      </p:sp>
      <p:pic>
        <p:nvPicPr>
          <p:cNvPr id="3" name="Image 0" descr="preencoded.png">    </p:cNvPr>
          <p:cNvPicPr>
            <a:picLocks noChangeAspect="1"/>
          </p:cNvPicPr>
          <p:nvPr/>
        </p:nvPicPr>
        <p:blipFill>
          <a:blip r:embed="rId1"/>
          <a:stretch>
            <a:fillRect/>
          </a:stretch>
        </p:blipFill>
        <p:spPr>
          <a:xfrm>
            <a:off x="589788" y="516636"/>
            <a:ext cx="301752" cy="301752"/>
          </a:xfrm>
          <a:prstGeom prst="rect">
            <a:avLst/>
          </a:prstGeom>
        </p:spPr>
      </p:pic>
      <p:sp>
        <p:nvSpPr>
          <p:cNvPr id="4" name="Text 1"/>
          <p:cNvSpPr/>
          <p:nvPr/>
        </p:nvSpPr>
        <p:spPr>
          <a:xfrm>
            <a:off x="1170432" y="329184"/>
            <a:ext cx="7498080" cy="457200"/>
          </a:xfrm>
          <a:prstGeom prst="rect">
            <a:avLst/>
          </a:prstGeom>
          <a:noFill/>
          <a:ln/>
        </p:spPr>
        <p:txBody>
          <a:bodyPr wrap="square" lIns="0" tIns="0" rIns="0" bIns="0" rtlCol="0" anchor="ctr"/>
          <a:lstStyle/>
          <a:p>
            <a:pPr indent="0" marL="0">
              <a:buNone/>
            </a:pPr>
            <a:r>
              <a:rPr lang="en-US" sz="2700" b="1" dirty="0">
                <a:solidFill>
                  <a:srgbClr val="0E2E33"/>
                </a:solidFill>
                <a:latin typeface="Cambria" pitchFamily="34" charset="0"/>
                <a:ea typeface="Cambria" pitchFamily="34" charset="-122"/>
                <a:cs typeface="Cambria" pitchFamily="34" charset="-120"/>
              </a:rPr>
              <a:t>Restricción matemática y métrica de la Loss</a:t>
            </a:r>
            <a:endParaRPr lang="en-US" sz="2700" dirty="0"/>
          </a:p>
        </p:txBody>
      </p:sp>
      <p:sp>
        <p:nvSpPr>
          <p:cNvPr id="5" name="Text 2"/>
          <p:cNvSpPr/>
          <p:nvPr/>
        </p:nvSpPr>
        <p:spPr>
          <a:xfrm>
            <a:off x="1188720" y="786384"/>
            <a:ext cx="7498080" cy="310896"/>
          </a:xfrm>
          <a:prstGeom prst="rect">
            <a:avLst/>
          </a:prstGeom>
          <a:noFill/>
          <a:ln/>
        </p:spPr>
        <p:txBody>
          <a:bodyPr wrap="square" lIns="0" tIns="0" rIns="0" bIns="0" rtlCol="0" anchor="ctr"/>
          <a:lstStyle/>
          <a:p>
            <a:pPr indent="0" marL="0">
              <a:buNone/>
            </a:pPr>
            <a:r>
              <a:rPr lang="en-US" sz="1250" i="1" dirty="0">
                <a:solidFill>
                  <a:srgbClr val="028090"/>
                </a:solidFill>
                <a:latin typeface="Calibri" pitchFamily="34" charset="0"/>
                <a:ea typeface="Calibri" pitchFamily="34" charset="-122"/>
                <a:cs typeface="Calibri" pitchFamily="34" charset="-120"/>
              </a:rPr>
              <a:t>Punto 1 — qué impone la capa custom y cómo penaliza la Loss la dependencia</a:t>
            </a:r>
            <a:endParaRPr lang="en-US" sz="1250" dirty="0"/>
          </a:p>
        </p:txBody>
      </p:sp>
      <p:sp>
        <p:nvSpPr>
          <p:cNvPr id="6" name="Shape 3"/>
          <p:cNvSpPr/>
          <p:nvPr/>
        </p:nvSpPr>
        <p:spPr>
          <a:xfrm>
            <a:off x="457200" y="1298448"/>
            <a:ext cx="4069080" cy="3401568"/>
          </a:xfrm>
          <a:prstGeom prst="roundRect">
            <a:avLst>
              <a:gd name="adj" fmla="val 2419"/>
            </a:avLst>
          </a:prstGeom>
          <a:solidFill>
            <a:srgbClr val="EBF6F5"/>
          </a:solidFill>
          <a:ln/>
          <a:effectLst>
            <a:outerShdw sx="100000" sy="100000" kx="0" ky="0" algn="bl" rotWithShape="0" blurRad="88900" dist="38100" dir="5400000">
              <a:srgbClr val="0A3D44">
                <a:alpha val="16000"/>
              </a:srgbClr>
            </a:outerShdw>
          </a:effectLst>
        </p:spPr>
      </p:sp>
      <p:sp>
        <p:nvSpPr>
          <p:cNvPr id="7" name="Shape 4"/>
          <p:cNvSpPr/>
          <p:nvPr/>
        </p:nvSpPr>
        <p:spPr>
          <a:xfrm>
            <a:off x="713232" y="1536192"/>
            <a:ext cx="457200" cy="457200"/>
          </a:xfrm>
          <a:prstGeom prst="ellipse">
            <a:avLst/>
          </a:prstGeom>
          <a:solidFill>
            <a:srgbClr val="028090"/>
          </a:solidFill>
          <a:ln/>
        </p:spPr>
      </p:sp>
      <p:pic>
        <p:nvPicPr>
          <p:cNvPr id="8" name="Image 1" descr="preencoded.png">    </p:cNvPr>
          <p:cNvPicPr>
            <a:picLocks noChangeAspect="1"/>
          </p:cNvPicPr>
          <p:nvPr/>
        </p:nvPicPr>
        <p:blipFill>
          <a:blip r:embed="rId2"/>
          <a:stretch>
            <a:fillRect/>
          </a:stretch>
        </p:blipFill>
        <p:spPr>
          <a:xfrm>
            <a:off x="818388" y="1641348"/>
            <a:ext cx="246888" cy="246888"/>
          </a:xfrm>
          <a:prstGeom prst="rect">
            <a:avLst/>
          </a:prstGeom>
        </p:spPr>
      </p:pic>
      <p:sp>
        <p:nvSpPr>
          <p:cNvPr id="9" name="Text 5"/>
          <p:cNvSpPr/>
          <p:nvPr/>
        </p:nvSpPr>
        <p:spPr>
          <a:xfrm>
            <a:off x="1298448" y="1536192"/>
            <a:ext cx="3017520" cy="457200"/>
          </a:xfrm>
          <a:prstGeom prst="rect">
            <a:avLst/>
          </a:prstGeom>
          <a:noFill/>
          <a:ln/>
        </p:spPr>
        <p:txBody>
          <a:bodyPr wrap="square" lIns="0" tIns="0" rIns="0" bIns="0" rtlCol="0" anchor="ctr"/>
          <a:lstStyle/>
          <a:p>
            <a:pPr indent="0" marL="0">
              <a:buNone/>
            </a:pPr>
            <a:r>
              <a:rPr lang="en-US" sz="1550" b="1" dirty="0">
                <a:solidFill>
                  <a:srgbClr val="0E2E33"/>
                </a:solidFill>
                <a:latin typeface="Cambria" pitchFamily="34" charset="0"/>
                <a:ea typeface="Cambria" pitchFamily="34" charset="-122"/>
                <a:cs typeface="Cambria" pitchFamily="34" charset="-120"/>
              </a:rPr>
              <a:t>Capa custom · restricción</a:t>
            </a:r>
            <a:endParaRPr lang="en-US" sz="1550" dirty="0"/>
          </a:p>
        </p:txBody>
      </p:sp>
      <p:sp>
        <p:nvSpPr>
          <p:cNvPr id="10" name="Text 6"/>
          <p:cNvSpPr/>
          <p:nvPr/>
        </p:nvSpPr>
        <p:spPr>
          <a:xfrm>
            <a:off x="713232" y="2121408"/>
            <a:ext cx="3566160" cy="1371600"/>
          </a:xfrm>
          <a:prstGeom prst="rect">
            <a:avLst/>
          </a:prstGeom>
          <a:noFill/>
          <a:ln/>
        </p:spPr>
        <p:txBody>
          <a:bodyPr wrap="square" lIns="0" tIns="0" rIns="0" bIns="0" rtlCol="0" anchor="t"/>
          <a:lstStyle/>
          <a:p>
            <a:pPr indent="0" marL="0">
              <a:spcAft>
                <a:spcPts val="500"/>
              </a:spcAft>
              <a:buNone/>
            </a:pPr>
            <a:r>
              <a:rPr lang="en-US" sz="1250" dirty="0">
                <a:solidFill>
                  <a:srgbClr val="0E2E33"/>
                </a:solidFill>
                <a:latin typeface="Calibri" pitchFamily="34" charset="0"/>
                <a:ea typeface="Calibri" pitchFamily="34" charset="-122"/>
                <a:cs typeface="Calibri" pitchFamily="34" charset="-120"/>
              </a:rPr>
              <a:t>Calcula 2 ratios económicos a partir de euros reales (sin escalar):</a:t>
            </a:r>
            <a:endParaRPr lang="en-US" sz="1250" dirty="0"/>
          </a:p>
          <a:p>
            <a:pPr indent="0" marL="0">
              <a:buNone/>
            </a:pPr>
            <a:r>
              <a:rPr lang="en-US" sz="1250" b="1" dirty="0">
                <a:solidFill>
                  <a:srgbClr val="028090"/>
                </a:solidFill>
                <a:latin typeface="Calibri" pitchFamily="34" charset="0"/>
                <a:ea typeface="Calibri" pitchFamily="34" charset="-122"/>
                <a:cs typeface="Calibri" pitchFamily="34" charset="-120"/>
              </a:rPr>
              <a:t>DSR = anualidad / ingreso</a:t>
            </a:r>
            <a:endParaRPr lang="en-US" sz="1250" dirty="0"/>
          </a:p>
          <a:p>
            <a:pPr indent="0" marL="0">
              <a:spcAft>
                <a:spcPts val="800"/>
              </a:spcAft>
              <a:buNone/>
            </a:pPr>
            <a:r>
              <a:rPr lang="en-US" sz="1250" b="1" dirty="0">
                <a:solidFill>
                  <a:srgbClr val="028090"/>
                </a:solidFill>
                <a:latin typeface="Calibri" pitchFamily="34" charset="0"/>
                <a:ea typeface="Calibri" pitchFamily="34" charset="-122"/>
                <a:cs typeface="Calibri" pitchFamily="34" charset="-120"/>
              </a:rPr>
              <a:t>LTI = crédito / ingreso</a:t>
            </a:r>
            <a:endParaRPr lang="en-US" sz="1250" dirty="0"/>
          </a:p>
          <a:p>
            <a:pPr indent="0" marL="0">
              <a:spcAft>
                <a:spcPts val="300"/>
              </a:spcAft>
              <a:buNone/>
            </a:pPr>
            <a:r>
              <a:rPr lang="en-US" sz="1250" dirty="0">
                <a:solidFill>
                  <a:srgbClr val="0E2E33"/>
                </a:solidFill>
                <a:latin typeface="Calibri" pitchFamily="34" charset="0"/>
                <a:ea typeface="Calibri" pitchFamily="34" charset="-122"/>
                <a:cs typeface="Calibri" pitchFamily="34" charset="-120"/>
              </a:rPr>
              <a:t>Restricción = saturación sigmoide acotada:</a:t>
            </a:r>
            <a:endParaRPr lang="en-US" sz="1250" dirty="0"/>
          </a:p>
        </p:txBody>
      </p:sp>
      <p:sp>
        <p:nvSpPr>
          <p:cNvPr id="11" name="Shape 7"/>
          <p:cNvSpPr/>
          <p:nvPr/>
        </p:nvSpPr>
        <p:spPr>
          <a:xfrm>
            <a:off x="713232" y="3310128"/>
            <a:ext cx="3566160" cy="457200"/>
          </a:xfrm>
          <a:prstGeom prst="roundRect">
            <a:avLst>
              <a:gd name="adj" fmla="val 12000"/>
            </a:avLst>
          </a:prstGeom>
          <a:solidFill>
            <a:srgbClr val="FFFFFF"/>
          </a:solidFill>
          <a:ln w="12700">
            <a:solidFill>
              <a:srgbClr val="9FD4D0"/>
            </a:solidFill>
            <a:prstDash val="solid"/>
          </a:ln>
        </p:spPr>
      </p:sp>
      <p:sp>
        <p:nvSpPr>
          <p:cNvPr id="12" name="Text 8"/>
          <p:cNvSpPr/>
          <p:nvPr/>
        </p:nvSpPr>
        <p:spPr>
          <a:xfrm>
            <a:off x="713232" y="3310128"/>
            <a:ext cx="3566160" cy="457200"/>
          </a:xfrm>
          <a:prstGeom prst="rect">
            <a:avLst/>
          </a:prstGeom>
          <a:noFill/>
          <a:ln/>
        </p:spPr>
        <p:txBody>
          <a:bodyPr wrap="square" lIns="0" tIns="0" rIns="0" bIns="0" rtlCol="0" anchor="ctr"/>
          <a:lstStyle/>
          <a:p>
            <a:pPr algn="ctr" indent="0" marL="0">
              <a:buNone/>
            </a:pPr>
            <a:r>
              <a:rPr lang="en-US" sz="1400" b="1" i="1" dirty="0">
                <a:solidFill>
                  <a:srgbClr val="028090"/>
                </a:solidFill>
                <a:latin typeface="Cambria" pitchFamily="34" charset="0"/>
                <a:ea typeface="Cambria" pitchFamily="34" charset="-122"/>
                <a:cs typeface="Cambria" pitchFamily="34" charset="-120"/>
              </a:rPr>
              <a:t>σ</a:t>
            </a:r>
            <a:pPr algn="ctr" indent="0" marL="0">
              <a:buNone/>
            </a:pPr>
            <a:r>
              <a:rPr lang="en-US" sz="1400" b="1" dirty="0">
                <a:solidFill>
                  <a:srgbClr val="028090"/>
                </a:solidFill>
                <a:latin typeface="Cambria" pitchFamily="34" charset="0"/>
                <a:ea typeface="Cambria" pitchFamily="34" charset="-122"/>
                <a:cs typeface="Cambria" pitchFamily="34" charset="-120"/>
              </a:rPr>
              <a:t>( α · ( ratio − β ) )  →  (0, 1)</a:t>
            </a:r>
            <a:endParaRPr lang="en-US" sz="1400" dirty="0"/>
          </a:p>
        </p:txBody>
      </p:sp>
      <p:sp>
        <p:nvSpPr>
          <p:cNvPr id="13" name="Text 9"/>
          <p:cNvSpPr/>
          <p:nvPr/>
        </p:nvSpPr>
        <p:spPr>
          <a:xfrm>
            <a:off x="713232" y="3840480"/>
            <a:ext cx="3566160" cy="749808"/>
          </a:xfrm>
          <a:prstGeom prst="rect">
            <a:avLst/>
          </a:prstGeom>
          <a:noFill/>
          <a:ln/>
        </p:spPr>
        <p:txBody>
          <a:bodyPr wrap="square" lIns="0" tIns="0" rIns="0" bIns="0" rtlCol="0" anchor="t"/>
          <a:lstStyle/>
          <a:p>
            <a:pPr indent="0" marL="0">
              <a:buNone/>
            </a:pPr>
            <a:r>
              <a:rPr lang="en-US" sz="1150" b="1" dirty="0">
                <a:solidFill>
                  <a:srgbClr val="028090"/>
                </a:solidFill>
                <a:latin typeface="Calibri" pitchFamily="34" charset="0"/>
                <a:ea typeface="Calibri" pitchFamily="34" charset="-122"/>
                <a:cs typeface="Calibri" pitchFamily="34" charset="-120"/>
              </a:rPr>
              <a:t>α </a:t>
            </a:r>
            <a:pPr indent="0" marL="0">
              <a:buNone/>
            </a:pPr>
            <a:r>
              <a:rPr lang="en-US" sz="1150" dirty="0">
                <a:solidFill>
                  <a:srgbClr val="5B7B82"/>
                </a:solidFill>
                <a:latin typeface="Calibri" pitchFamily="34" charset="0"/>
                <a:ea typeface="Calibri" pitchFamily="34" charset="-122"/>
                <a:cs typeface="Calibri" pitchFamily="34" charset="-120"/>
              </a:rPr>
              <a:t>(pendiente) y </a:t>
            </a:r>
            <a:pPr indent="0" marL="0">
              <a:buNone/>
            </a:pPr>
            <a:r>
              <a:rPr lang="en-US" sz="1150" b="1" dirty="0">
                <a:solidFill>
                  <a:srgbClr val="028090"/>
                </a:solidFill>
                <a:latin typeface="Calibri" pitchFamily="34" charset="0"/>
                <a:ea typeface="Calibri" pitchFamily="34" charset="-122"/>
                <a:cs typeface="Calibri" pitchFamily="34" charset="-120"/>
              </a:rPr>
              <a:t>β </a:t>
            </a:r>
            <a:pPr indent="0" marL="0">
              <a:buNone/>
            </a:pPr>
            <a:r>
              <a:rPr lang="en-US" sz="1150" dirty="0">
                <a:solidFill>
                  <a:srgbClr val="5B7B82"/>
                </a:solidFill>
                <a:latin typeface="Calibri" pitchFamily="34" charset="0"/>
                <a:ea typeface="Calibri" pitchFamily="34" charset="-122"/>
                <a:cs typeface="Calibri" pitchFamily="34" charset="-120"/>
              </a:rPr>
              <a:t>(umbral) son entrenables y acotados por un Constraint propio (CustomClipValue).</a:t>
            </a:r>
            <a:endParaRPr lang="en-US" sz="1150" dirty="0"/>
          </a:p>
        </p:txBody>
      </p:sp>
      <p:sp>
        <p:nvSpPr>
          <p:cNvPr id="14" name="Shape 10"/>
          <p:cNvSpPr/>
          <p:nvPr/>
        </p:nvSpPr>
        <p:spPr>
          <a:xfrm>
            <a:off x="4681728" y="1298448"/>
            <a:ext cx="4023360" cy="3401568"/>
          </a:xfrm>
          <a:prstGeom prst="roundRect">
            <a:avLst>
              <a:gd name="adj" fmla="val 2419"/>
            </a:avLst>
          </a:prstGeom>
          <a:solidFill>
            <a:srgbClr val="EBF6F5"/>
          </a:solidFill>
          <a:ln/>
          <a:effectLst>
            <a:outerShdw sx="100000" sy="100000" kx="0" ky="0" algn="bl" rotWithShape="0" blurRad="88900" dist="38100" dir="5400000">
              <a:srgbClr val="0A3D44">
                <a:alpha val="16000"/>
              </a:srgbClr>
            </a:outerShdw>
          </a:effectLst>
        </p:spPr>
      </p:sp>
      <p:sp>
        <p:nvSpPr>
          <p:cNvPr id="15" name="Shape 11"/>
          <p:cNvSpPr/>
          <p:nvPr/>
        </p:nvSpPr>
        <p:spPr>
          <a:xfrm>
            <a:off x="4937760" y="1536192"/>
            <a:ext cx="457200" cy="457200"/>
          </a:xfrm>
          <a:prstGeom prst="ellipse">
            <a:avLst/>
          </a:prstGeom>
          <a:solidFill>
            <a:srgbClr val="00A896"/>
          </a:solidFill>
          <a:ln/>
        </p:spPr>
      </p:sp>
      <p:pic>
        <p:nvPicPr>
          <p:cNvPr id="16" name="Image 2" descr="preencoded.png">    </p:cNvPr>
          <p:cNvPicPr>
            <a:picLocks noChangeAspect="1"/>
          </p:cNvPicPr>
          <p:nvPr/>
        </p:nvPicPr>
        <p:blipFill>
          <a:blip r:embed="rId3"/>
          <a:stretch>
            <a:fillRect/>
          </a:stretch>
        </p:blipFill>
        <p:spPr>
          <a:xfrm>
            <a:off x="5042916" y="1641348"/>
            <a:ext cx="246888" cy="246888"/>
          </a:xfrm>
          <a:prstGeom prst="rect">
            <a:avLst/>
          </a:prstGeom>
        </p:spPr>
      </p:pic>
      <p:sp>
        <p:nvSpPr>
          <p:cNvPr id="17" name="Text 12"/>
          <p:cNvSpPr/>
          <p:nvPr/>
        </p:nvSpPr>
        <p:spPr>
          <a:xfrm>
            <a:off x="5522976" y="1536192"/>
            <a:ext cx="2926080" cy="457200"/>
          </a:xfrm>
          <a:prstGeom prst="rect">
            <a:avLst/>
          </a:prstGeom>
          <a:noFill/>
          <a:ln/>
        </p:spPr>
        <p:txBody>
          <a:bodyPr wrap="square" lIns="0" tIns="0" rIns="0" bIns="0" rtlCol="0" anchor="ctr"/>
          <a:lstStyle/>
          <a:p>
            <a:pPr indent="0" marL="0">
              <a:buNone/>
            </a:pPr>
            <a:r>
              <a:rPr lang="en-US" sz="1550" b="1" dirty="0">
                <a:solidFill>
                  <a:srgbClr val="0E2E33"/>
                </a:solidFill>
                <a:latin typeface="Cambria" pitchFamily="34" charset="0"/>
                <a:ea typeface="Cambria" pitchFamily="34" charset="-122"/>
                <a:cs typeface="Cambria" pitchFamily="34" charset="-120"/>
              </a:rPr>
              <a:t>FAIR Loss · dependencia</a:t>
            </a:r>
            <a:endParaRPr lang="en-US" sz="1550" dirty="0"/>
          </a:p>
        </p:txBody>
      </p:sp>
      <p:sp>
        <p:nvSpPr>
          <p:cNvPr id="18" name="Shape 13"/>
          <p:cNvSpPr/>
          <p:nvPr/>
        </p:nvSpPr>
        <p:spPr>
          <a:xfrm>
            <a:off x="4937760" y="2139696"/>
            <a:ext cx="3520440" cy="566928"/>
          </a:xfrm>
          <a:prstGeom prst="roundRect">
            <a:avLst>
              <a:gd name="adj" fmla="val 9677"/>
            </a:avLst>
          </a:prstGeom>
          <a:solidFill>
            <a:srgbClr val="FFFFFF"/>
          </a:solidFill>
          <a:ln w="12700">
            <a:solidFill>
              <a:srgbClr val="9FD4D0"/>
            </a:solidFill>
            <a:prstDash val="solid"/>
          </a:ln>
        </p:spPr>
      </p:sp>
      <p:sp>
        <p:nvSpPr>
          <p:cNvPr id="19" name="Text 14"/>
          <p:cNvSpPr/>
          <p:nvPr/>
        </p:nvSpPr>
        <p:spPr>
          <a:xfrm>
            <a:off x="4937760" y="2139696"/>
            <a:ext cx="3520440" cy="566928"/>
          </a:xfrm>
          <a:prstGeom prst="rect">
            <a:avLst/>
          </a:prstGeom>
          <a:noFill/>
          <a:ln/>
        </p:spPr>
        <p:txBody>
          <a:bodyPr wrap="square" lIns="0" tIns="0" rIns="0" bIns="0" rtlCol="0" anchor="ctr"/>
          <a:lstStyle/>
          <a:p>
            <a:pPr algn="ctr" indent="0" marL="0">
              <a:buNone/>
            </a:pPr>
            <a:r>
              <a:rPr lang="en-US" sz="1450" b="1" i="1" dirty="0">
                <a:solidFill>
                  <a:srgbClr val="00A896"/>
                </a:solidFill>
                <a:latin typeface="Cambria" pitchFamily="34" charset="0"/>
                <a:ea typeface="Cambria" pitchFamily="34" charset="-122"/>
                <a:cs typeface="Cambria" pitchFamily="34" charset="-120"/>
              </a:rPr>
              <a:t>L</a:t>
            </a:r>
            <a:pPr algn="ctr" indent="0" marL="0">
              <a:buNone/>
            </a:pPr>
            <a:r>
              <a:rPr lang="en-US" sz="1450" b="1" dirty="0">
                <a:solidFill>
                  <a:srgbClr val="00A896"/>
                </a:solidFill>
                <a:latin typeface="Cambria" pitchFamily="34" charset="0"/>
                <a:ea typeface="Cambria" pitchFamily="34" charset="-122"/>
                <a:cs typeface="Cambria" pitchFamily="34" charset="-120"/>
              </a:rPr>
              <a:t> = BCE + λ · ρ( ŷ , s )²</a:t>
            </a:r>
            <a:endParaRPr lang="en-US" sz="1450" dirty="0"/>
          </a:p>
        </p:txBody>
      </p:sp>
      <p:sp>
        <p:nvSpPr>
          <p:cNvPr id="20" name="Text 15"/>
          <p:cNvSpPr/>
          <p:nvPr/>
        </p:nvSpPr>
        <p:spPr>
          <a:xfrm>
            <a:off x="4937760" y="2852928"/>
            <a:ext cx="3520440" cy="914400"/>
          </a:xfrm>
          <a:prstGeom prst="rect">
            <a:avLst/>
          </a:prstGeom>
          <a:noFill/>
          <a:ln/>
        </p:spPr>
        <p:txBody>
          <a:bodyPr wrap="square" lIns="0" tIns="0" rIns="0" bIns="0" rtlCol="0" anchor="t"/>
          <a:lstStyle/>
          <a:p>
            <a:pPr indent="0" marL="0">
              <a:buNone/>
            </a:pPr>
            <a:r>
              <a:rPr lang="en-US" sz="1200" b="1" dirty="0">
                <a:solidFill>
                  <a:srgbClr val="0E2E33"/>
                </a:solidFill>
                <a:latin typeface="Calibri" pitchFamily="34" charset="0"/>
                <a:ea typeface="Calibri" pitchFamily="34" charset="-122"/>
                <a:cs typeface="Calibri" pitchFamily="34" charset="-120"/>
              </a:rPr>
              <a:t>Métrica de dependencia: </a:t>
            </a:r>
            <a:pPr indent="0" marL="0">
              <a:buNone/>
            </a:pPr>
            <a:r>
              <a:rPr lang="en-US" sz="1200" dirty="0">
                <a:solidFill>
                  <a:srgbClr val="0E2E33"/>
                </a:solidFill>
                <a:latin typeface="Calibri" pitchFamily="34" charset="0"/>
                <a:ea typeface="Calibri" pitchFamily="34" charset="-122"/>
                <a:cs typeface="Calibri" pitchFamily="34" charset="-120"/>
              </a:rPr>
              <a:t>ρ = correlación de Pearson al cuadrado entre la probabilidad predicha </a:t>
            </a:r>
            <a:pPr indent="0" marL="0">
              <a:buNone/>
            </a:pPr>
            <a:r>
              <a:rPr lang="en-US" sz="1200" b="1" i="1" dirty="0">
                <a:solidFill>
                  <a:srgbClr val="00A896"/>
                </a:solidFill>
                <a:latin typeface="Calibri" pitchFamily="34" charset="0"/>
                <a:ea typeface="Calibri" pitchFamily="34" charset="-122"/>
                <a:cs typeface="Calibri" pitchFamily="34" charset="-120"/>
              </a:rPr>
              <a:t>ŷ</a:t>
            </a:r>
            <a:pPr indent="0" marL="0">
              <a:buNone/>
            </a:pPr>
            <a:r>
              <a:rPr lang="en-US" sz="1200" dirty="0">
                <a:solidFill>
                  <a:srgbClr val="0E2E33"/>
                </a:solidFill>
                <a:latin typeface="Calibri" pitchFamily="34" charset="0"/>
                <a:ea typeface="Calibri" pitchFamily="34" charset="-122"/>
                <a:cs typeface="Calibri" pitchFamily="34" charset="-120"/>
              </a:rPr>
              <a:t> y el sexo </a:t>
            </a:r>
            <a:pPr indent="0" marL="0">
              <a:buNone/>
            </a:pPr>
            <a:r>
              <a:rPr lang="en-US" sz="1200" b="1" i="1" dirty="0">
                <a:solidFill>
                  <a:srgbClr val="00A896"/>
                </a:solidFill>
                <a:latin typeface="Calibri" pitchFamily="34" charset="0"/>
                <a:ea typeface="Calibri" pitchFamily="34" charset="-122"/>
                <a:cs typeface="Calibri" pitchFamily="34" charset="-120"/>
              </a:rPr>
              <a:t>s</a:t>
            </a:r>
            <a:pPr indent="0" marL="0">
              <a:buNone/>
            </a:pPr>
            <a:r>
              <a:rPr lang="en-US" sz="1200" dirty="0">
                <a:solidFill>
                  <a:srgbClr val="0E2E33"/>
                </a:solidFill>
                <a:latin typeface="Calibri" pitchFamily="34" charset="0"/>
                <a:ea typeface="Calibri" pitchFamily="34" charset="-122"/>
                <a:cs typeface="Calibri" pitchFamily="34" charset="-120"/>
              </a:rPr>
              <a:t> (CODE_GENDER), calculada por batch.</a:t>
            </a:r>
            <a:endParaRPr lang="en-US" sz="1200" dirty="0"/>
          </a:p>
        </p:txBody>
      </p:sp>
      <p:sp>
        <p:nvSpPr>
          <p:cNvPr id="21" name="Text 16"/>
          <p:cNvSpPr/>
          <p:nvPr/>
        </p:nvSpPr>
        <p:spPr>
          <a:xfrm>
            <a:off x="4937760" y="3822192"/>
            <a:ext cx="3520440" cy="777240"/>
          </a:xfrm>
          <a:prstGeom prst="rect">
            <a:avLst/>
          </a:prstGeom>
          <a:noFill/>
          <a:ln/>
        </p:spPr>
        <p:txBody>
          <a:bodyPr wrap="square" lIns="0" tIns="0" rIns="0" bIns="0" rtlCol="0" anchor="t"/>
          <a:lstStyle/>
          <a:p>
            <a:pPr indent="0" marL="0">
              <a:buNone/>
            </a:pPr>
            <a:r>
              <a:rPr lang="en-US" sz="1150" b="1" dirty="0">
                <a:solidFill>
                  <a:srgbClr val="00A896"/>
                </a:solidFill>
                <a:latin typeface="Calibri" pitchFamily="34" charset="0"/>
                <a:ea typeface="Calibri" pitchFamily="34" charset="-122"/>
                <a:cs typeface="Calibri" pitchFamily="34" charset="-120"/>
              </a:rPr>
              <a:t>Diferenciable</a:t>
            </a:r>
            <a:pPr indent="0" marL="0">
              <a:buNone/>
            </a:pPr>
            <a:r>
              <a:rPr lang="en-US" sz="1150" dirty="0">
                <a:solidFill>
                  <a:srgbClr val="5B7B82"/>
                </a:solidFill>
                <a:latin typeface="Calibri" pitchFamily="34" charset="0"/>
                <a:ea typeface="Calibri" pitchFamily="34" charset="-122"/>
                <a:cs typeface="Calibri" pitchFamily="34" charset="-120"/>
              </a:rPr>
              <a:t> (sobre probabilidades, no clases).  </a:t>
            </a:r>
            <a:pPr indent="0" marL="0">
              <a:buNone/>
            </a:pPr>
            <a:r>
              <a:rPr lang="en-US" sz="1150" b="1" dirty="0">
                <a:solidFill>
                  <a:srgbClr val="00A896"/>
                </a:solidFill>
                <a:latin typeface="Calibri" pitchFamily="34" charset="0"/>
                <a:ea typeface="Calibri" pitchFamily="34" charset="-122"/>
                <a:cs typeface="Calibri" pitchFamily="34" charset="-120"/>
              </a:rPr>
              <a:t>λ </a:t>
            </a:r>
            <a:pPr indent="0" marL="0">
              <a:buNone/>
            </a:pPr>
            <a:r>
              <a:rPr lang="en-US" sz="1150" dirty="0">
                <a:solidFill>
                  <a:srgbClr val="5B7B82"/>
                </a:solidFill>
                <a:latin typeface="Calibri" pitchFamily="34" charset="0"/>
                <a:ea typeface="Calibri" pitchFamily="34" charset="-122"/>
                <a:cs typeface="Calibri" pitchFamily="34" charset="-120"/>
              </a:rPr>
              <a:t>regula el compromiso justicia ↔ utilidad; lo afina el Tuner.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00A896"/>
          </a:solidFill>
          <a:ln/>
          <a:effectLst>
            <a:outerShdw sx="100000" sy="100000" kx="0" ky="0" algn="bl" rotWithShape="0" blurRad="88900" dist="38100" dir="5400000">
              <a:srgbClr val="0A3D44">
                <a:alpha val="16000"/>
              </a:srgbClr>
            </a:outerShdw>
          </a:effectLst>
        </p:spPr>
      </p:sp>
      <p:pic>
        <p:nvPicPr>
          <p:cNvPr id="3" name="Image 0" descr="preencoded.png">    </p:cNvPr>
          <p:cNvPicPr>
            <a:picLocks noChangeAspect="1"/>
          </p:cNvPicPr>
          <p:nvPr/>
        </p:nvPicPr>
        <p:blipFill>
          <a:blip r:embed="rId1"/>
          <a:stretch>
            <a:fillRect/>
          </a:stretch>
        </p:blipFill>
        <p:spPr>
          <a:xfrm>
            <a:off x="589788" y="516636"/>
            <a:ext cx="301752" cy="301752"/>
          </a:xfrm>
          <a:prstGeom prst="rect">
            <a:avLst/>
          </a:prstGeom>
        </p:spPr>
      </p:pic>
      <p:sp>
        <p:nvSpPr>
          <p:cNvPr id="4" name="Text 1"/>
          <p:cNvSpPr/>
          <p:nvPr/>
        </p:nvSpPr>
        <p:spPr>
          <a:xfrm>
            <a:off x="1170432" y="329184"/>
            <a:ext cx="7498080" cy="457200"/>
          </a:xfrm>
          <a:prstGeom prst="rect">
            <a:avLst/>
          </a:prstGeom>
          <a:noFill/>
          <a:ln/>
        </p:spPr>
        <p:txBody>
          <a:bodyPr wrap="square" lIns="0" tIns="0" rIns="0" bIns="0" rtlCol="0" anchor="ctr"/>
          <a:lstStyle/>
          <a:p>
            <a:pPr indent="0" marL="0">
              <a:buNone/>
            </a:pPr>
            <a:r>
              <a:rPr lang="en-US" sz="2700" b="1" dirty="0">
                <a:solidFill>
                  <a:srgbClr val="0E2E33"/>
                </a:solidFill>
                <a:latin typeface="Cambria" pitchFamily="34" charset="0"/>
                <a:ea typeface="Cambria" pitchFamily="34" charset="-122"/>
                <a:cs typeface="Cambria" pitchFamily="34" charset="-120"/>
              </a:rPr>
              <a:t>Curva de Pareto: ¿cuánto cuesta ser justo?</a:t>
            </a:r>
            <a:endParaRPr lang="en-US" sz="2700" dirty="0"/>
          </a:p>
        </p:txBody>
      </p:sp>
      <p:sp>
        <p:nvSpPr>
          <p:cNvPr id="5" name="Text 2"/>
          <p:cNvSpPr/>
          <p:nvPr/>
        </p:nvSpPr>
        <p:spPr>
          <a:xfrm>
            <a:off x="1188720" y="786384"/>
            <a:ext cx="7498080" cy="310896"/>
          </a:xfrm>
          <a:prstGeom prst="rect">
            <a:avLst/>
          </a:prstGeom>
          <a:noFill/>
          <a:ln/>
        </p:spPr>
        <p:txBody>
          <a:bodyPr wrap="square" lIns="0" tIns="0" rIns="0" bIns="0" rtlCol="0" anchor="ctr"/>
          <a:lstStyle/>
          <a:p>
            <a:pPr indent="0" marL="0">
              <a:buNone/>
            </a:pPr>
            <a:r>
              <a:rPr lang="en-US" sz="1250" i="1" dirty="0">
                <a:solidFill>
                  <a:srgbClr val="028090"/>
                </a:solidFill>
                <a:latin typeface="Calibri" pitchFamily="34" charset="0"/>
                <a:ea typeface="Calibri" pitchFamily="34" charset="-122"/>
                <a:cs typeface="Calibri" pitchFamily="34" charset="-120"/>
              </a:rPr>
              <a:t>Punto 2 — 25 configuraciones (Keras Tuner) · ¿qué AUC sacrificamos por reducir dependencia?</a:t>
            </a:r>
            <a:endParaRPr lang="en-US" sz="1250" dirty="0"/>
          </a:p>
        </p:txBody>
      </p:sp>
      <p:graphicFrame>
        <p:nvGraphicFramePr>
          <p:cNvPr id="6" name="Chart 0" descr=""/>
          <p:cNvGraphicFramePr/>
          <p:nvPr/>
        </p:nvGraphicFramePr>
        <p:xfrm>
          <a:off x="457200" y="1298448"/>
          <a:ext cx="4892040" cy="324612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457200" y="4544568"/>
            <a:ext cx="4892040" cy="292608"/>
          </a:xfrm>
          <a:prstGeom prst="rect">
            <a:avLst/>
          </a:prstGeom>
          <a:noFill/>
          <a:ln/>
        </p:spPr>
        <p:txBody>
          <a:bodyPr wrap="square" lIns="0" tIns="0" rIns="0" bIns="0" rtlCol="0" anchor="ctr"/>
          <a:lstStyle/>
          <a:p>
            <a:pPr algn="ctr" indent="0" marL="0">
              <a:buNone/>
            </a:pPr>
            <a:r>
              <a:rPr lang="en-US" sz="1050" i="1" dirty="0">
                <a:solidFill>
                  <a:srgbClr val="5B7B82"/>
                </a:solidFill>
                <a:latin typeface="Calibri" pitchFamily="34" charset="0"/>
                <a:ea typeface="Calibri" pitchFamily="34" charset="-122"/>
                <a:cs typeface="Calibri" pitchFamily="34" charset="-120"/>
              </a:rPr>
              <a:t>Frontera casi plana → bajar dependencia apenas cuesta AUC</a:t>
            </a:r>
            <a:endParaRPr lang="en-US" sz="1050" dirty="0"/>
          </a:p>
        </p:txBody>
      </p:sp>
      <p:sp>
        <p:nvSpPr>
          <p:cNvPr id="8" name="Shape 4"/>
          <p:cNvSpPr/>
          <p:nvPr/>
        </p:nvSpPr>
        <p:spPr>
          <a:xfrm>
            <a:off x="5559552" y="1298448"/>
            <a:ext cx="3145536" cy="1627632"/>
          </a:xfrm>
          <a:prstGeom prst="roundRect">
            <a:avLst>
              <a:gd name="adj" fmla="val 5056"/>
            </a:avLst>
          </a:prstGeom>
          <a:solidFill>
            <a:srgbClr val="0A3D44"/>
          </a:solidFill>
          <a:ln/>
          <a:effectLst>
            <a:outerShdw sx="100000" sy="100000" kx="0" ky="0" algn="bl" rotWithShape="0" blurRad="88900" dist="38100" dir="5400000">
              <a:srgbClr val="0A3D44">
                <a:alpha val="16000"/>
              </a:srgbClr>
            </a:outerShdw>
          </a:effectLst>
        </p:spPr>
      </p:sp>
      <p:sp>
        <p:nvSpPr>
          <p:cNvPr id="9" name="Text 5"/>
          <p:cNvSpPr/>
          <p:nvPr/>
        </p:nvSpPr>
        <p:spPr>
          <a:xfrm>
            <a:off x="5760720" y="1426464"/>
            <a:ext cx="2743200" cy="310896"/>
          </a:xfrm>
          <a:prstGeom prst="rect">
            <a:avLst/>
          </a:prstGeom>
          <a:noFill/>
          <a:ln/>
        </p:spPr>
        <p:txBody>
          <a:bodyPr wrap="square" lIns="0" tIns="0" rIns="0" bIns="0"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El compromiso (en TEST)</a:t>
            </a:r>
            <a:endParaRPr lang="en-US" sz="1200" dirty="0"/>
          </a:p>
        </p:txBody>
      </p:sp>
      <p:sp>
        <p:nvSpPr>
          <p:cNvPr id="10" name="Text 6"/>
          <p:cNvSpPr/>
          <p:nvPr/>
        </p:nvSpPr>
        <p:spPr>
          <a:xfrm>
            <a:off x="5760720" y="1719072"/>
            <a:ext cx="2743200" cy="6400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−0.005</a:t>
            </a:r>
            <a:endParaRPr lang="en-US" sz="4000" dirty="0"/>
          </a:p>
        </p:txBody>
      </p:sp>
      <p:sp>
        <p:nvSpPr>
          <p:cNvPr id="11" name="Text 7"/>
          <p:cNvSpPr/>
          <p:nvPr/>
        </p:nvSpPr>
        <p:spPr>
          <a:xfrm>
            <a:off x="5760720" y="2331720"/>
            <a:ext cx="2743200" cy="274320"/>
          </a:xfrm>
          <a:prstGeom prst="rect">
            <a:avLst/>
          </a:prstGeom>
          <a:noFill/>
          <a:ln/>
        </p:spPr>
        <p:txBody>
          <a:bodyPr wrap="square" lIns="0" tIns="0" rIns="0" bIns="0" rtlCol="0" anchor="ctr"/>
          <a:lstStyle/>
          <a:p>
            <a:pPr indent="0" marL="0">
              <a:buNone/>
            </a:pPr>
            <a:r>
              <a:rPr lang="en-US" sz="1150" dirty="0">
                <a:solidFill>
                  <a:srgbClr val="9FD4D0"/>
                </a:solidFill>
                <a:latin typeface="Calibri" pitchFamily="34" charset="0"/>
                <a:ea typeface="Calibri" pitchFamily="34" charset="-122"/>
                <a:cs typeface="Calibri" pitchFamily="34" charset="-120"/>
              </a:rPr>
              <a:t>de AUC (0.738 → 0.734)</a:t>
            </a:r>
            <a:endParaRPr lang="en-US" sz="1150" dirty="0"/>
          </a:p>
        </p:txBody>
      </p:sp>
      <p:sp>
        <p:nvSpPr>
          <p:cNvPr id="12" name="Text 8"/>
          <p:cNvSpPr/>
          <p:nvPr/>
        </p:nvSpPr>
        <p:spPr>
          <a:xfrm>
            <a:off x="5760720" y="2578608"/>
            <a:ext cx="2743200" cy="274320"/>
          </a:xfrm>
          <a:prstGeom prst="rect">
            <a:avLst/>
          </a:prstGeom>
          <a:noFill/>
          <a:ln/>
        </p:spPr>
        <p:txBody>
          <a:bodyPr wrap="square" lIns="0" tIns="0" rIns="0" bIns="0" rtlCol="0" anchor="ctr"/>
          <a:lstStyle/>
          <a:p>
            <a:pPr indent="0" marL="0">
              <a:buNone/>
            </a:pPr>
            <a:r>
              <a:rPr lang="en-US" sz="1150" b="1" dirty="0">
                <a:solidFill>
                  <a:srgbClr val="02C39A"/>
                </a:solidFill>
                <a:latin typeface="Calibri" pitchFamily="34" charset="0"/>
                <a:ea typeface="Calibri" pitchFamily="34" charset="-122"/>
                <a:cs typeface="Calibri" pitchFamily="34" charset="-120"/>
              </a:rPr>
              <a:t>≈ 90% menos</a:t>
            </a:r>
            <a:pPr indent="0" marL="0">
              <a:buNone/>
            </a:pPr>
            <a:r>
              <a:rPr lang="en-US" sz="1150" dirty="0">
                <a:solidFill>
                  <a:srgbClr val="9FD4D0"/>
                </a:solidFill>
                <a:latin typeface="Calibri" pitchFamily="34" charset="0"/>
                <a:ea typeface="Calibri" pitchFamily="34" charset="-122"/>
                <a:cs typeface="Calibri" pitchFamily="34" charset="-120"/>
              </a:rPr>
              <a:t> dependencia con el sexo</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559552" y="3127248"/>
          <a:ext cx="3145536" cy="914400"/>
        </p:xfrm>
        <a:graphic>
          <a:graphicData uri="http://schemas.openxmlformats.org/drawingml/2006/table">
            <a:tbl>
              <a:tblPr/>
              <a:tblGrid>
                <a:gridCol w="1591056"/>
                <a:gridCol w="777240"/>
                <a:gridCol w="777240"/>
              </a:tblGrid>
              <a:tr h="274320">
                <a:tc>
                  <a:txBody>
                    <a:bodyPr/>
                    <a:lstStyle/>
                    <a:p>
                      <a:pPr indent="0" marL="0">
                        <a:buNone/>
                      </a:pPr>
                      <a:r>
                        <a:rPr lang="en-US" sz="1000" b="1" dirty="0">
                          <a:solidFill>
                            <a:srgbClr val="FFFFFF"/>
                          </a:solidFill>
                        </a:rPr>
                        <a:t>Modelo (TEST)</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028090"/>
                    </a:solidFill>
                  </a:tcPr>
                </a:tc>
                <a:tc>
                  <a:txBody>
                    <a:bodyPr/>
                    <a:lstStyle/>
                    <a:p>
                      <a:pPr algn="ctr" indent="0" marL="0">
                        <a:buNone/>
                      </a:pPr>
                      <a:r>
                        <a:rPr lang="en-US" sz="1000" b="1" dirty="0">
                          <a:solidFill>
                            <a:srgbClr val="FFFFFF"/>
                          </a:solidFill>
                        </a:rPr>
                        <a:t>AUC</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028090"/>
                    </a:solidFill>
                  </a:tcPr>
                </a:tc>
                <a:tc>
                  <a:txBody>
                    <a:bodyPr/>
                    <a:lstStyle/>
                    <a:p>
                      <a:pPr algn="ctr" indent="0" marL="0">
                        <a:buNone/>
                      </a:pPr>
                      <a:r>
                        <a:rPr lang="en-US" sz="1000" b="1" dirty="0">
                          <a:solidFill>
                            <a:srgbClr val="FFFFFF"/>
                          </a:solidFill>
                        </a:rPr>
                        <a:t>|Corr|</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028090"/>
                    </a:solidFill>
                  </a:tcPr>
                </a:tc>
              </a:tr>
              <a:tr h="292608">
                <a:tc>
                  <a:txBody>
                    <a:bodyPr/>
                    <a:lstStyle/>
                    <a:p>
                      <a:pPr indent="0" marL="0">
                        <a:buNone/>
                      </a:pPr>
                      <a:r>
                        <a:rPr lang="en-US" sz="1000" dirty="0">
                          <a:solidFill>
                            <a:srgbClr val="0E2E33"/>
                          </a:solidFill>
                        </a:rPr>
                        <a:t>Custom (BCE)</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2E33"/>
                          </a:solidFill>
                        </a:rPr>
                        <a:t>0.738</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B8A2E"/>
                          </a:solidFill>
                        </a:rPr>
                        <a:t>0.223</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r>
              <a:tr h="292608">
                <a:tc>
                  <a:txBody>
                    <a:bodyPr/>
                    <a:lstStyle/>
                    <a:p>
                      <a:pPr indent="0" marL="0">
                        <a:buNone/>
                      </a:pPr>
                      <a:r>
                        <a:rPr lang="en-US" sz="1000" dirty="0">
                          <a:solidFill>
                            <a:srgbClr val="0E2E33"/>
                          </a:solidFill>
                        </a:rPr>
                        <a:t>FAIR (λ=0.2)</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2E33"/>
                          </a:solidFill>
                        </a:rPr>
                        <a:t>0.736</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2E33"/>
                          </a:solidFill>
                        </a:rPr>
                        <a:t>0.065</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r>
              <a:tr h="292608">
                <a:tc>
                  <a:txBody>
                    <a:bodyPr/>
                    <a:lstStyle/>
                    <a:p>
                      <a:pPr indent="0" marL="0">
                        <a:buNone/>
                      </a:pPr>
                      <a:r>
                        <a:rPr lang="en-US" sz="1000" b="1" dirty="0">
                          <a:solidFill>
                            <a:srgbClr val="0E2E33"/>
                          </a:solidFill>
                        </a:rPr>
                        <a:t>FAIR Tuner (λ=0.59)</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E2E33"/>
                          </a:solidFill>
                        </a:rPr>
                        <a:t>0.734</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A896"/>
                          </a:solidFill>
                        </a:rPr>
                        <a:t>0.021</a:t>
                      </a:r>
                      <a:endParaRPr lang="en-US" sz="1000" dirty="0"/>
                    </a:p>
                  </a:txBody>
                  <a:tcPr marL="91440" marR="91440" marT="45720" marB="45720" anchor="ctr">
                    <a:lnL w="6350" cap="flat" cmpd="sng" algn="ctr">
                      <a:solidFill>
                        <a:srgbClr val="DCEAEA"/>
                      </a:solidFill>
                      <a:prstDash val="solid"/>
                      <a:round/>
                      <a:headEnd type="none" w="med" len="med"/>
                      <a:tailEnd type="none" w="med" len="med"/>
                    </a:lnL>
                    <a:lnR w="6350" cap="flat" cmpd="sng" algn="ctr">
                      <a:solidFill>
                        <a:srgbClr val="DCEAEA"/>
                      </a:solidFill>
                      <a:prstDash val="solid"/>
                      <a:round/>
                      <a:headEnd type="none" w="med" len="med"/>
                      <a:tailEnd type="none" w="med" len="med"/>
                    </a:lnR>
                    <a:lnT w="6350" cap="flat" cmpd="sng" algn="ctr">
                      <a:solidFill>
                        <a:srgbClr val="DCEAEA"/>
                      </a:solidFill>
                      <a:prstDash val="solid"/>
                      <a:round/>
                      <a:headEnd type="none" w="med" len="med"/>
                      <a:tailEnd type="none" w="med" len="med"/>
                    </a:lnT>
                    <a:lnB w="6350" cap="flat" cmpd="sng" algn="ctr">
                      <a:solidFill>
                        <a:srgbClr val="DCEAEA"/>
                      </a:solidFill>
                      <a:prstDash val="solid"/>
                      <a:round/>
                      <a:headEnd type="none" w="med" len="med"/>
                      <a:tailEnd type="none" w="med" len="med"/>
                    </a:lnB>
                    <a:solidFill>
                      <a:srgbClr val="FFFFFF"/>
                    </a:solidFill>
                  </a:tcPr>
                </a:tc>
              </a:tr>
            </a:tbl>
          </a:graphicData>
        </a:graphic>
      </p:graphicFrame>
      <p:sp>
        <p:nvSpPr>
          <p:cNvPr id="14" name="Text 9"/>
          <p:cNvSpPr/>
          <p:nvPr/>
        </p:nvSpPr>
        <p:spPr>
          <a:xfrm>
            <a:off x="5559552" y="4370832"/>
            <a:ext cx="3145536" cy="457200"/>
          </a:xfrm>
          <a:prstGeom prst="rect">
            <a:avLst/>
          </a:prstGeom>
          <a:noFill/>
          <a:ln/>
        </p:spPr>
        <p:txBody>
          <a:bodyPr wrap="square" lIns="0" tIns="0" rIns="0" bIns="0" rtlCol="0" anchor="ctr"/>
          <a:lstStyle/>
          <a:p>
            <a:pPr indent="0" marL="0">
              <a:buNone/>
            </a:pPr>
            <a:r>
              <a:rPr lang="en-US" sz="1050" i="1" dirty="0">
                <a:solidFill>
                  <a:srgbClr val="5B7B82"/>
                </a:solidFill>
                <a:latin typeface="Calibri" pitchFamily="34" charset="0"/>
                <a:ea typeface="Calibri" pitchFamily="34" charset="-122"/>
                <a:cs typeface="Calibri" pitchFamily="34" charset="-120"/>
              </a:rPr>
              <a:t>La mejor config (Tuner): casi mismo AUC, dependencia 10× menor.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DB8A2E"/>
          </a:solidFill>
          <a:ln/>
          <a:effectLst>
            <a:outerShdw sx="100000" sy="100000" kx="0" ky="0" algn="bl" rotWithShape="0" blurRad="88900" dist="38100" dir="5400000">
              <a:srgbClr val="0A3D44">
                <a:alpha val="16000"/>
              </a:srgbClr>
            </a:outerShdw>
          </a:effectLst>
        </p:spPr>
      </p:sp>
      <p:pic>
        <p:nvPicPr>
          <p:cNvPr id="3" name="Image 0" descr="preencoded.png">    </p:cNvPr>
          <p:cNvPicPr>
            <a:picLocks noChangeAspect="1"/>
          </p:cNvPicPr>
          <p:nvPr/>
        </p:nvPicPr>
        <p:blipFill>
          <a:blip r:embed="rId1"/>
          <a:stretch>
            <a:fillRect/>
          </a:stretch>
        </p:blipFill>
        <p:spPr>
          <a:xfrm>
            <a:off x="589788" y="516636"/>
            <a:ext cx="301752" cy="301752"/>
          </a:xfrm>
          <a:prstGeom prst="rect">
            <a:avLst/>
          </a:prstGeom>
        </p:spPr>
      </p:pic>
      <p:sp>
        <p:nvSpPr>
          <p:cNvPr id="4" name="Text 1"/>
          <p:cNvSpPr/>
          <p:nvPr/>
        </p:nvSpPr>
        <p:spPr>
          <a:xfrm>
            <a:off x="1170432" y="329184"/>
            <a:ext cx="7498080" cy="457200"/>
          </a:xfrm>
          <a:prstGeom prst="rect">
            <a:avLst/>
          </a:prstGeom>
          <a:noFill/>
          <a:ln/>
        </p:spPr>
        <p:txBody>
          <a:bodyPr wrap="square" lIns="0" tIns="0" rIns="0" bIns="0" rtlCol="0" anchor="ctr"/>
          <a:lstStyle/>
          <a:p>
            <a:pPr indent="0" marL="0">
              <a:buNone/>
            </a:pPr>
            <a:r>
              <a:rPr lang="en-US" sz="2700" b="1" dirty="0">
                <a:solidFill>
                  <a:srgbClr val="0E2E33"/>
                </a:solidFill>
                <a:latin typeface="Cambria" pitchFamily="34" charset="0"/>
                <a:ea typeface="Cambria" pitchFamily="34" charset="-122"/>
                <a:cs typeface="Cambria" pitchFamily="34" charset="-120"/>
              </a:rPr>
              <a:t>Incertidumbre vs calidad de EXT_SOURCE</a:t>
            </a:r>
            <a:endParaRPr lang="en-US" sz="2700" dirty="0"/>
          </a:p>
        </p:txBody>
      </p:sp>
      <p:sp>
        <p:nvSpPr>
          <p:cNvPr id="5" name="Text 2"/>
          <p:cNvSpPr/>
          <p:nvPr/>
        </p:nvSpPr>
        <p:spPr>
          <a:xfrm>
            <a:off x="1188720" y="786384"/>
            <a:ext cx="7498080" cy="310896"/>
          </a:xfrm>
          <a:prstGeom prst="rect">
            <a:avLst/>
          </a:prstGeom>
          <a:noFill/>
          <a:ln/>
        </p:spPr>
        <p:txBody>
          <a:bodyPr wrap="square" lIns="0" tIns="0" rIns="0" bIns="0" rtlCol="0" anchor="ctr"/>
          <a:lstStyle/>
          <a:p>
            <a:pPr indent="0" marL="0">
              <a:buNone/>
            </a:pPr>
            <a:r>
              <a:rPr lang="en-US" sz="1250" i="1" dirty="0">
                <a:solidFill>
                  <a:srgbClr val="028090"/>
                </a:solidFill>
                <a:latin typeface="Calibri" pitchFamily="34" charset="0"/>
                <a:ea typeface="Calibri" pitchFamily="34" charset="-122"/>
                <a:cs typeface="Calibri" pitchFamily="34" charset="-120"/>
              </a:rPr>
              <a:t>Punto 3 — MC Dropout (50 pasadas) · ¿más duda cuando las fuentes externas son peores?</a:t>
            </a:r>
            <a:endParaRPr lang="en-US" sz="1250" dirty="0"/>
          </a:p>
        </p:txBody>
      </p:sp>
      <p:graphicFrame>
        <p:nvGraphicFramePr>
          <p:cNvPr id="6" name="Chart 0" descr=""/>
          <p:cNvGraphicFramePr/>
          <p:nvPr/>
        </p:nvGraphicFramePr>
        <p:xfrm>
          <a:off x="457200" y="1371600"/>
          <a:ext cx="4800600" cy="3154680"/>
        </p:xfrm>
        <a:graphic xmlns:a="http://schemas.openxmlformats.org/drawingml/2006/main">
          <a:graphicData uri="http://schemas.openxmlformats.org/drawingml/2006/chart">
            <c:chart xmlns:c="http://schemas.openxmlformats.org/drawingml/2006/chart" r:id="rId2"/>
          </a:graphicData>
        </a:graphic>
      </p:graphicFrame>
      <p:pic>
        <p:nvPicPr>
          <p:cNvPr id="7" name="Image 1" descr="preencoded.png">    </p:cNvPr>
          <p:cNvPicPr>
            <a:picLocks noChangeAspect="1"/>
          </p:cNvPicPr>
          <p:nvPr/>
        </p:nvPicPr>
        <p:blipFill>
          <a:blip r:embed="rId3"/>
          <a:stretch>
            <a:fillRect/>
          </a:stretch>
        </p:blipFill>
        <p:spPr>
          <a:xfrm>
            <a:off x="4160520" y="1627632"/>
            <a:ext cx="457200" cy="457200"/>
          </a:xfrm>
          <a:prstGeom prst="rect">
            <a:avLst/>
          </a:prstGeom>
        </p:spPr>
      </p:pic>
      <p:sp>
        <p:nvSpPr>
          <p:cNvPr id="8" name="Text 3"/>
          <p:cNvSpPr/>
          <p:nvPr/>
        </p:nvSpPr>
        <p:spPr>
          <a:xfrm>
            <a:off x="3429000" y="2084832"/>
            <a:ext cx="1737360" cy="274320"/>
          </a:xfrm>
          <a:prstGeom prst="rect">
            <a:avLst/>
          </a:prstGeom>
          <a:noFill/>
          <a:ln/>
        </p:spPr>
        <p:txBody>
          <a:bodyPr wrap="square" lIns="0" tIns="0" rIns="0" bIns="0" rtlCol="0" anchor="ctr"/>
          <a:lstStyle/>
          <a:p>
            <a:pPr algn="ctr" indent="0" marL="0">
              <a:buNone/>
            </a:pPr>
            <a:r>
              <a:rPr lang="en-US" sz="1050" b="1" i="1" dirty="0">
                <a:solidFill>
                  <a:srgbClr val="DB8A2E"/>
                </a:solidFill>
                <a:latin typeface="Calibri" pitchFamily="34" charset="0"/>
                <a:ea typeface="Calibri" pitchFamily="34" charset="-122"/>
                <a:cs typeface="Calibri" pitchFamily="34" charset="-120"/>
              </a:rPr>
              <a:t>la varianza BAJA</a:t>
            </a:r>
            <a:endParaRPr lang="en-US" sz="1050" dirty="0"/>
          </a:p>
        </p:txBody>
      </p:sp>
      <p:sp>
        <p:nvSpPr>
          <p:cNvPr id="9" name="Shape 4"/>
          <p:cNvSpPr/>
          <p:nvPr/>
        </p:nvSpPr>
        <p:spPr>
          <a:xfrm>
            <a:off x="5468112" y="1371600"/>
            <a:ext cx="3236976" cy="1371600"/>
          </a:xfrm>
          <a:prstGeom prst="roundRect">
            <a:avLst>
              <a:gd name="adj" fmla="val 6000"/>
            </a:avLst>
          </a:prstGeom>
          <a:solidFill>
            <a:srgbClr val="FBF1E2"/>
          </a:solidFill>
          <a:ln w="12700">
            <a:solidFill>
              <a:srgbClr val="DB8A2E"/>
            </a:solidFill>
            <a:prstDash val="solid"/>
          </a:ln>
          <a:effectLst>
            <a:outerShdw sx="100000" sy="100000" kx="0" ky="0" algn="bl" rotWithShape="0" blurRad="88900" dist="38100" dir="5400000">
              <a:srgbClr val="0A3D44">
                <a:alpha val="16000"/>
              </a:srgbClr>
            </a:outerShdw>
          </a:effectLst>
        </p:spPr>
      </p:sp>
      <p:sp>
        <p:nvSpPr>
          <p:cNvPr id="10" name="Shape 5"/>
          <p:cNvSpPr/>
          <p:nvPr/>
        </p:nvSpPr>
        <p:spPr>
          <a:xfrm>
            <a:off x="5687568" y="1572768"/>
            <a:ext cx="420624" cy="420624"/>
          </a:xfrm>
          <a:prstGeom prst="ellipse">
            <a:avLst/>
          </a:prstGeom>
          <a:solidFill>
            <a:srgbClr val="DB8A2E"/>
          </a:solidFill>
          <a:ln/>
        </p:spPr>
      </p:sp>
      <p:pic>
        <p:nvPicPr>
          <p:cNvPr id="11" name="Image 2" descr="preencoded.png">    </p:cNvPr>
          <p:cNvPicPr>
            <a:picLocks noChangeAspect="1"/>
          </p:cNvPicPr>
          <p:nvPr/>
        </p:nvPicPr>
        <p:blipFill>
          <a:blip r:embed="rId4"/>
          <a:stretch>
            <a:fillRect/>
          </a:stretch>
        </p:blipFill>
        <p:spPr>
          <a:xfrm>
            <a:off x="5783580" y="1668780"/>
            <a:ext cx="228600" cy="228600"/>
          </a:xfrm>
          <a:prstGeom prst="rect">
            <a:avLst/>
          </a:prstGeom>
        </p:spPr>
      </p:pic>
      <p:sp>
        <p:nvSpPr>
          <p:cNvPr id="12" name="Text 6"/>
          <p:cNvSpPr/>
          <p:nvPr/>
        </p:nvSpPr>
        <p:spPr>
          <a:xfrm>
            <a:off x="6236208" y="1572768"/>
            <a:ext cx="2331720" cy="420624"/>
          </a:xfrm>
          <a:prstGeom prst="rect">
            <a:avLst/>
          </a:prstGeom>
          <a:noFill/>
          <a:ln/>
        </p:spPr>
        <p:txBody>
          <a:bodyPr wrap="square" lIns="0" tIns="0" rIns="0" bIns="0" rtlCol="0" anchor="ctr"/>
          <a:lstStyle/>
          <a:p>
            <a:pPr indent="0" marL="0">
              <a:buNone/>
            </a:pPr>
            <a:r>
              <a:rPr lang="en-US" sz="1400" b="1" dirty="0">
                <a:solidFill>
                  <a:srgbClr val="0E2E33"/>
                </a:solidFill>
                <a:latin typeface="Cambria" pitchFamily="34" charset="0"/>
                <a:ea typeface="Cambria" pitchFamily="34" charset="-122"/>
                <a:cs typeface="Cambria" pitchFamily="34" charset="-120"/>
              </a:rPr>
              <a:t>Resultado contraintuitivo</a:t>
            </a:r>
            <a:endParaRPr lang="en-US" sz="1400" dirty="0"/>
          </a:p>
        </p:txBody>
      </p:sp>
      <p:sp>
        <p:nvSpPr>
          <p:cNvPr id="13" name="Text 7"/>
          <p:cNvSpPr/>
          <p:nvPr/>
        </p:nvSpPr>
        <p:spPr>
          <a:xfrm>
            <a:off x="5687568" y="2084832"/>
            <a:ext cx="2788920" cy="603504"/>
          </a:xfrm>
          <a:prstGeom prst="rect">
            <a:avLst/>
          </a:prstGeom>
          <a:noFill/>
          <a:ln/>
        </p:spPr>
        <p:txBody>
          <a:bodyPr wrap="square" lIns="0" tIns="0" rIns="0" bIns="0" rtlCol="0" anchor="t"/>
          <a:lstStyle/>
          <a:p>
            <a:pPr indent="0" marL="0">
              <a:buNone/>
            </a:pPr>
            <a:r>
              <a:rPr lang="en-US" sz="1150" dirty="0">
                <a:solidFill>
                  <a:srgbClr val="0E2E33"/>
                </a:solidFill>
                <a:latin typeface="Calibri" pitchFamily="34" charset="0"/>
                <a:ea typeface="Calibri" pitchFamily="34" charset="-122"/>
                <a:cs typeface="Calibri" pitchFamily="34" charset="-120"/>
              </a:rPr>
              <a:t>Peor calidad de EXT_SOURCE → MENOS incertidumbre. Ocurre lo contrario de lo esperado.</a:t>
            </a:r>
            <a:endParaRPr lang="en-US" sz="1150" dirty="0"/>
          </a:p>
        </p:txBody>
      </p:sp>
      <p:sp>
        <p:nvSpPr>
          <p:cNvPr id="14" name="Text 8"/>
          <p:cNvSpPr/>
          <p:nvPr/>
        </p:nvSpPr>
        <p:spPr>
          <a:xfrm>
            <a:off x="5468112" y="2889504"/>
            <a:ext cx="3200400" cy="274320"/>
          </a:xfrm>
          <a:prstGeom prst="rect">
            <a:avLst/>
          </a:prstGeom>
          <a:noFill/>
          <a:ln/>
        </p:spPr>
        <p:txBody>
          <a:bodyPr wrap="square" lIns="0" tIns="0" rIns="0" bIns="0" rtlCol="0" anchor="ctr"/>
          <a:lstStyle/>
          <a:p>
            <a:pPr indent="0" marL="0">
              <a:buNone/>
            </a:pPr>
            <a:r>
              <a:rPr lang="en-US" sz="1300" b="1" dirty="0">
                <a:solidFill>
                  <a:srgbClr val="028090"/>
                </a:solidFill>
                <a:latin typeface="Cambria" pitchFamily="34" charset="0"/>
                <a:ea typeface="Cambria" pitchFamily="34" charset="-122"/>
                <a:cs typeface="Cambria" pitchFamily="34" charset="-120"/>
              </a:rPr>
              <a:t>¿Por qué?</a:t>
            </a:r>
            <a:endParaRPr lang="en-US" sz="1300" dirty="0"/>
          </a:p>
        </p:txBody>
      </p:sp>
      <p:sp>
        <p:nvSpPr>
          <p:cNvPr id="15" name="Text 9"/>
          <p:cNvSpPr/>
          <p:nvPr/>
        </p:nvSpPr>
        <p:spPr>
          <a:xfrm>
            <a:off x="5468112" y="3163824"/>
            <a:ext cx="3200400" cy="777240"/>
          </a:xfrm>
          <a:prstGeom prst="rect">
            <a:avLst/>
          </a:prstGeom>
          <a:noFill/>
          <a:ln/>
        </p:spPr>
        <p:txBody>
          <a:bodyPr wrap="square" lIns="0" tIns="0" rIns="0" bIns="0" rtlCol="0" anchor="t"/>
          <a:lstStyle/>
          <a:p>
            <a:pPr indent="0" marL="0">
              <a:buNone/>
            </a:pPr>
            <a:r>
              <a:rPr lang="en-US" sz="1100" b="1" dirty="0">
                <a:solidFill>
                  <a:srgbClr val="0E2E33"/>
                </a:solidFill>
                <a:latin typeface="Calibri" pitchFamily="34" charset="0"/>
                <a:ea typeface="Calibri" pitchFamily="34" charset="-122"/>
                <a:cs typeface="Calibri" pitchFamily="34" charset="-120"/>
              </a:rPr>
              <a:t>La imputación por mediana </a:t>
            </a:r>
            <a:pPr indent="0" marL="0">
              <a:buNone/>
            </a:pPr>
            <a:r>
              <a:rPr lang="en-US" sz="1100" dirty="0">
                <a:solidFill>
                  <a:srgbClr val="0E2E33"/>
                </a:solidFill>
                <a:latin typeface="Calibri" pitchFamily="34" charset="0"/>
                <a:ea typeface="Calibri" pitchFamily="34" charset="-122"/>
                <a:cs typeface="Calibri" pitchFamily="34" charset="-120"/>
              </a:rPr>
              <a:t>amontona a esos clientes en un punto muy poblado: el Dropout casi no cambia la predicción </a:t>
            </a:r>
            <a:pPr indent="0" marL="0">
              <a:buNone/>
            </a:pPr>
            <a:r>
              <a:rPr lang="en-US" sz="1100" b="1" dirty="0">
                <a:solidFill>
                  <a:srgbClr val="DB8A2E"/>
                </a:solidFill>
                <a:latin typeface="Calibri" pitchFamily="34" charset="0"/>
                <a:ea typeface="Calibri" pitchFamily="34" charset="-122"/>
                <a:cs typeface="Calibri" pitchFamily="34" charset="-120"/>
              </a:rPr>
              <a:t>→ varianza baja.</a:t>
            </a:r>
            <a:endParaRPr lang="en-US" sz="1100" dirty="0"/>
          </a:p>
        </p:txBody>
      </p:sp>
      <p:sp>
        <p:nvSpPr>
          <p:cNvPr id="16" name="Text 10"/>
          <p:cNvSpPr/>
          <p:nvPr/>
        </p:nvSpPr>
        <p:spPr>
          <a:xfrm>
            <a:off x="5468112" y="3986784"/>
            <a:ext cx="3200400" cy="731520"/>
          </a:xfrm>
          <a:prstGeom prst="rect">
            <a:avLst/>
          </a:prstGeom>
          <a:noFill/>
          <a:ln/>
        </p:spPr>
        <p:txBody>
          <a:bodyPr wrap="square" lIns="0" tIns="0" rIns="0" bIns="0" rtlCol="0" anchor="t"/>
          <a:lstStyle/>
          <a:p>
            <a:pPr indent="0" marL="0">
              <a:buNone/>
            </a:pPr>
            <a:r>
              <a:rPr lang="en-US" sz="1050" b="1" dirty="0">
                <a:solidFill>
                  <a:srgbClr val="DB8A2E"/>
                </a:solidFill>
                <a:latin typeface="Calibri" pitchFamily="34" charset="0"/>
                <a:ea typeface="Calibri" pitchFamily="34" charset="-122"/>
                <a:cs typeface="Calibri" pitchFamily="34" charset="-120"/>
              </a:rPr>
              <a:t>Falsa seguridad: </a:t>
            </a:r>
            <a:pPr indent="0" marL="0">
              <a:buNone/>
            </a:pPr>
            <a:r>
              <a:rPr lang="en-US" sz="1050" dirty="0">
                <a:solidFill>
                  <a:srgbClr val="5B7B82"/>
                </a:solidFill>
                <a:latin typeface="Calibri" pitchFamily="34" charset="0"/>
                <a:ea typeface="Calibri" pitchFamily="34" charset="-122"/>
                <a:cs typeface="Calibri" pitchFamily="34" charset="-120"/>
              </a:rPr>
              <a:t>imputar esconde que faltaba el dato. Solución → marcar la ausencia (flag "fue imputado").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3D44"/>
        </a:solidFill>
      </p:bgPr>
    </p:bg>
    <p:spTree>
      <p:nvGrpSpPr>
        <p:cNvPr id="1" name=""/>
        <p:cNvGrpSpPr/>
        <p:nvPr/>
      </p:nvGrpSpPr>
      <p:grpSpPr>
        <a:xfrm>
          <a:off x="0" y="0"/>
          <a:ext cx="0" cy="0"/>
          <a:chOff x="0" y="0"/>
          <a:chExt cx="0" cy="0"/>
        </a:xfrm>
      </p:grpSpPr>
      <p:sp>
        <p:nvSpPr>
          <p:cNvPr id="2" name="Shape 0"/>
          <p:cNvSpPr/>
          <p:nvPr/>
        </p:nvSpPr>
        <p:spPr>
          <a:xfrm>
            <a:off x="-1188720" y="2651760"/>
            <a:ext cx="4023360" cy="4023360"/>
          </a:xfrm>
          <a:prstGeom prst="ellipse">
            <a:avLst/>
          </a:prstGeom>
          <a:solidFill>
            <a:srgbClr val="028090">
              <a:alpha val="16000"/>
            </a:srgbClr>
          </a:solidFill>
          <a:ln/>
        </p:spPr>
      </p:sp>
      <p:sp>
        <p:nvSpPr>
          <p:cNvPr id="3" name="Shape 1"/>
          <p:cNvSpPr/>
          <p:nvPr/>
        </p:nvSpPr>
        <p:spPr>
          <a:xfrm>
            <a:off x="7680960" y="-1280160"/>
            <a:ext cx="3291840" cy="3291840"/>
          </a:xfrm>
          <a:prstGeom prst="ellipse">
            <a:avLst/>
          </a:prstGeom>
          <a:solidFill>
            <a:srgbClr val="00A896">
              <a:alpha val="14000"/>
            </a:srgbClr>
          </a:solidFill>
          <a:ln/>
        </p:spPr>
      </p:sp>
      <p:sp>
        <p:nvSpPr>
          <p:cNvPr id="4" name="Text 2"/>
          <p:cNvSpPr/>
          <p:nvPr/>
        </p:nvSpPr>
        <p:spPr>
          <a:xfrm>
            <a:off x="502920" y="502920"/>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
        <p:nvSpPr>
          <p:cNvPr id="5" name="Shape 3"/>
          <p:cNvSpPr/>
          <p:nvPr/>
        </p:nvSpPr>
        <p:spPr>
          <a:xfrm>
            <a:off x="502920" y="1417320"/>
            <a:ext cx="8138160" cy="932688"/>
          </a:xfrm>
          <a:prstGeom prst="roundRect">
            <a:avLst>
              <a:gd name="adj" fmla="val 7843"/>
            </a:avLst>
          </a:prstGeom>
          <a:solidFill>
            <a:srgbClr val="0F4C54"/>
          </a:solidFill>
          <a:ln/>
        </p:spPr>
      </p:sp>
      <p:sp>
        <p:nvSpPr>
          <p:cNvPr id="6" name="Shape 4"/>
          <p:cNvSpPr/>
          <p:nvPr/>
        </p:nvSpPr>
        <p:spPr>
          <a:xfrm>
            <a:off x="749808" y="1655064"/>
            <a:ext cx="457200" cy="457200"/>
          </a:xfrm>
          <a:prstGeom prst="ellipse">
            <a:avLst/>
          </a:prstGeom>
          <a:solidFill>
            <a:srgbClr val="028090"/>
          </a:solidFill>
          <a:ln/>
        </p:spPr>
      </p:sp>
      <p:pic>
        <p:nvPicPr>
          <p:cNvPr id="7" name="Image 0" descr="preencoded.png">    </p:cNvPr>
          <p:cNvPicPr>
            <a:picLocks noChangeAspect="1"/>
          </p:cNvPicPr>
          <p:nvPr/>
        </p:nvPicPr>
        <p:blipFill>
          <a:blip r:embed="rId1"/>
          <a:stretch>
            <a:fillRect/>
          </a:stretch>
        </p:blipFill>
        <p:spPr>
          <a:xfrm>
            <a:off x="854964" y="1760220"/>
            <a:ext cx="246888" cy="246888"/>
          </a:xfrm>
          <a:prstGeom prst="rect">
            <a:avLst/>
          </a:prstGeom>
        </p:spPr>
      </p:pic>
      <p:sp>
        <p:nvSpPr>
          <p:cNvPr id="8" name="Text 5"/>
          <p:cNvSpPr/>
          <p:nvPr/>
        </p:nvSpPr>
        <p:spPr>
          <a:xfrm>
            <a:off x="1417320" y="1527048"/>
            <a:ext cx="704088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1.  Restricción + métrica</a:t>
            </a:r>
            <a:endParaRPr lang="en-US" sz="1600" dirty="0"/>
          </a:p>
        </p:txBody>
      </p:sp>
      <p:sp>
        <p:nvSpPr>
          <p:cNvPr id="9" name="Text 6"/>
          <p:cNvSpPr/>
          <p:nvPr/>
        </p:nvSpPr>
        <p:spPr>
          <a:xfrm>
            <a:off x="1417320" y="1856232"/>
            <a:ext cx="7040880" cy="420624"/>
          </a:xfrm>
          <a:prstGeom prst="rect">
            <a:avLst/>
          </a:prstGeom>
          <a:noFill/>
          <a:ln/>
        </p:spPr>
        <p:txBody>
          <a:bodyPr wrap="square" lIns="0" tIns="0" rIns="0" bIns="0" rtlCol="0" anchor="t"/>
          <a:lstStyle/>
          <a:p>
            <a:pPr indent="0" marL="0">
              <a:buNone/>
            </a:pPr>
            <a:r>
              <a:rPr lang="en-US" sz="1200" dirty="0">
                <a:solidFill>
                  <a:srgbClr val="9FD4D0"/>
                </a:solidFill>
                <a:latin typeface="Calibri" pitchFamily="34" charset="0"/>
                <a:ea typeface="Calibri" pitchFamily="34" charset="-122"/>
                <a:cs typeface="Calibri" pitchFamily="34" charset="-120"/>
              </a:rPr>
              <a:t>Sigmoide acotada σ(α(ratio−β)) sobre DSR/LTI; la Loss penaliza la correlación de Pearson² entre predicción y sexo.</a:t>
            </a:r>
            <a:endParaRPr lang="en-US" sz="1200" dirty="0"/>
          </a:p>
        </p:txBody>
      </p:sp>
      <p:sp>
        <p:nvSpPr>
          <p:cNvPr id="10" name="Shape 7"/>
          <p:cNvSpPr/>
          <p:nvPr/>
        </p:nvSpPr>
        <p:spPr>
          <a:xfrm>
            <a:off x="502920" y="2496312"/>
            <a:ext cx="8138160" cy="932688"/>
          </a:xfrm>
          <a:prstGeom prst="roundRect">
            <a:avLst>
              <a:gd name="adj" fmla="val 7843"/>
            </a:avLst>
          </a:prstGeom>
          <a:solidFill>
            <a:srgbClr val="0F4C54"/>
          </a:solidFill>
          <a:ln/>
        </p:spPr>
      </p:sp>
      <p:sp>
        <p:nvSpPr>
          <p:cNvPr id="11" name="Shape 8"/>
          <p:cNvSpPr/>
          <p:nvPr/>
        </p:nvSpPr>
        <p:spPr>
          <a:xfrm>
            <a:off x="749808" y="2734056"/>
            <a:ext cx="457200" cy="457200"/>
          </a:xfrm>
          <a:prstGeom prst="ellipse">
            <a:avLst/>
          </a:prstGeom>
          <a:solidFill>
            <a:srgbClr val="00A896"/>
          </a:solidFill>
          <a:ln/>
        </p:spPr>
      </p:sp>
      <p:pic>
        <p:nvPicPr>
          <p:cNvPr id="12" name="Image 1" descr="preencoded.png">    </p:cNvPr>
          <p:cNvPicPr>
            <a:picLocks noChangeAspect="1"/>
          </p:cNvPicPr>
          <p:nvPr/>
        </p:nvPicPr>
        <p:blipFill>
          <a:blip r:embed="rId2"/>
          <a:stretch>
            <a:fillRect/>
          </a:stretch>
        </p:blipFill>
        <p:spPr>
          <a:xfrm>
            <a:off x="854964" y="2839212"/>
            <a:ext cx="246888" cy="246888"/>
          </a:xfrm>
          <a:prstGeom prst="rect">
            <a:avLst/>
          </a:prstGeom>
        </p:spPr>
      </p:pic>
      <p:sp>
        <p:nvSpPr>
          <p:cNvPr id="13" name="Text 9"/>
          <p:cNvSpPr/>
          <p:nvPr/>
        </p:nvSpPr>
        <p:spPr>
          <a:xfrm>
            <a:off x="1417320" y="2606040"/>
            <a:ext cx="704088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2.  Justicia barata</a:t>
            </a:r>
            <a:endParaRPr lang="en-US" sz="1600" dirty="0"/>
          </a:p>
        </p:txBody>
      </p:sp>
      <p:sp>
        <p:nvSpPr>
          <p:cNvPr id="14" name="Text 10"/>
          <p:cNvSpPr/>
          <p:nvPr/>
        </p:nvSpPr>
        <p:spPr>
          <a:xfrm>
            <a:off x="1417320" y="2935224"/>
            <a:ext cx="7040880" cy="420624"/>
          </a:xfrm>
          <a:prstGeom prst="rect">
            <a:avLst/>
          </a:prstGeom>
          <a:noFill/>
          <a:ln/>
        </p:spPr>
        <p:txBody>
          <a:bodyPr wrap="square" lIns="0" tIns="0" rIns="0" bIns="0" rtlCol="0" anchor="t"/>
          <a:lstStyle/>
          <a:p>
            <a:pPr indent="0" marL="0">
              <a:buNone/>
            </a:pPr>
            <a:r>
              <a:rPr lang="en-US" sz="1200" dirty="0">
                <a:solidFill>
                  <a:srgbClr val="9FD4D0"/>
                </a:solidFill>
                <a:latin typeface="Calibri" pitchFamily="34" charset="0"/>
                <a:ea typeface="Calibri" pitchFamily="34" charset="-122"/>
                <a:cs typeface="Calibri" pitchFamily="34" charset="-120"/>
              </a:rPr>
              <a:t>Reducir ~90% la dependencia cuesta solo 0.005 de AUC: la frontera de Pareto es casi plana.</a:t>
            </a:r>
            <a:endParaRPr lang="en-US" sz="1200" dirty="0"/>
          </a:p>
        </p:txBody>
      </p:sp>
      <p:sp>
        <p:nvSpPr>
          <p:cNvPr id="15" name="Shape 11"/>
          <p:cNvSpPr/>
          <p:nvPr/>
        </p:nvSpPr>
        <p:spPr>
          <a:xfrm>
            <a:off x="502920" y="3575304"/>
            <a:ext cx="8138160" cy="932688"/>
          </a:xfrm>
          <a:prstGeom prst="roundRect">
            <a:avLst>
              <a:gd name="adj" fmla="val 7843"/>
            </a:avLst>
          </a:prstGeom>
          <a:solidFill>
            <a:srgbClr val="0F4C54"/>
          </a:solidFill>
          <a:ln/>
        </p:spPr>
      </p:sp>
      <p:sp>
        <p:nvSpPr>
          <p:cNvPr id="16" name="Shape 12"/>
          <p:cNvSpPr/>
          <p:nvPr/>
        </p:nvSpPr>
        <p:spPr>
          <a:xfrm>
            <a:off x="749808" y="3813048"/>
            <a:ext cx="457200" cy="457200"/>
          </a:xfrm>
          <a:prstGeom prst="ellipse">
            <a:avLst/>
          </a:prstGeom>
          <a:solidFill>
            <a:srgbClr val="DB8A2E"/>
          </a:solidFill>
          <a:ln/>
        </p:spPr>
      </p:sp>
      <p:pic>
        <p:nvPicPr>
          <p:cNvPr id="17" name="Image 2" descr="preencoded.png">    </p:cNvPr>
          <p:cNvPicPr>
            <a:picLocks noChangeAspect="1"/>
          </p:cNvPicPr>
          <p:nvPr/>
        </p:nvPicPr>
        <p:blipFill>
          <a:blip r:embed="rId3"/>
          <a:stretch>
            <a:fillRect/>
          </a:stretch>
        </p:blipFill>
        <p:spPr>
          <a:xfrm>
            <a:off x="854964" y="3918204"/>
            <a:ext cx="246888" cy="246888"/>
          </a:xfrm>
          <a:prstGeom prst="rect">
            <a:avLst/>
          </a:prstGeom>
        </p:spPr>
      </p:pic>
      <p:sp>
        <p:nvSpPr>
          <p:cNvPr id="18" name="Text 13"/>
          <p:cNvSpPr/>
          <p:nvPr/>
        </p:nvSpPr>
        <p:spPr>
          <a:xfrm>
            <a:off x="1417320" y="3685032"/>
            <a:ext cx="704088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3.  Falsa seguridad</a:t>
            </a:r>
            <a:endParaRPr lang="en-US" sz="1600" dirty="0"/>
          </a:p>
        </p:txBody>
      </p:sp>
      <p:sp>
        <p:nvSpPr>
          <p:cNvPr id="19" name="Text 14"/>
          <p:cNvSpPr/>
          <p:nvPr/>
        </p:nvSpPr>
        <p:spPr>
          <a:xfrm>
            <a:off x="1417320" y="4014216"/>
            <a:ext cx="7040880" cy="420624"/>
          </a:xfrm>
          <a:prstGeom prst="rect">
            <a:avLst/>
          </a:prstGeom>
          <a:noFill/>
          <a:ln/>
        </p:spPr>
        <p:txBody>
          <a:bodyPr wrap="square" lIns="0" tIns="0" rIns="0" bIns="0" rtlCol="0" anchor="t"/>
          <a:lstStyle/>
          <a:p>
            <a:pPr indent="0" marL="0">
              <a:buNone/>
            </a:pPr>
            <a:r>
              <a:rPr lang="en-US" sz="1200" dirty="0">
                <a:solidFill>
                  <a:srgbClr val="9FD4D0"/>
                </a:solidFill>
                <a:latin typeface="Calibri" pitchFamily="34" charset="0"/>
                <a:ea typeface="Calibri" pitchFamily="34" charset="-122"/>
                <a:cs typeface="Calibri" pitchFamily="34" charset="-120"/>
              </a:rPr>
              <a:t>Con imputación por mediana hay MENOS incertidumbre donde EXT_SOURCE es peor. Faltaría señalar la ausencia.</a:t>
            </a:r>
            <a:endParaRPr lang="en-US" sz="1200" dirty="0"/>
          </a:p>
        </p:txBody>
      </p:sp>
      <p:sp>
        <p:nvSpPr>
          <p:cNvPr id="20" name="Text 15"/>
          <p:cNvSpPr/>
          <p:nvPr/>
        </p:nvSpPr>
        <p:spPr>
          <a:xfrm>
            <a:off x="502920" y="4709160"/>
            <a:ext cx="8138160" cy="274320"/>
          </a:xfrm>
          <a:prstGeom prst="rect">
            <a:avLst/>
          </a:prstGeom>
          <a:noFill/>
          <a:ln/>
        </p:spPr>
        <p:txBody>
          <a:bodyPr wrap="square" lIns="0" tIns="0" rIns="0" bIns="0" rtlCol="0" anchor="ctr"/>
          <a:lstStyle/>
          <a:p>
            <a:pPr algn="ctr" indent="0" marL="0">
              <a:buNone/>
            </a:pPr>
            <a:r>
              <a:rPr lang="en-US" sz="1100" i="1" dirty="0">
                <a:solidFill>
                  <a:srgbClr val="00A896"/>
                </a:solidFill>
                <a:latin typeface="Calibri" pitchFamily="34" charset="0"/>
                <a:ea typeface="Calibri" pitchFamily="34" charset="-122"/>
                <a:cs typeface="Calibri" pitchFamily="34" charset="-120"/>
              </a:rPr>
              <a:t>Taller B4-T1 · Home Credit · Grupo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Confiables: Justicia e Incertidumbre</dc:title>
  <dc:subject>PptxGenJS Presentation</dc:subject>
  <dc:creator>Grupo B4-T1</dc:creator>
  <cp:lastModifiedBy>Grupo B4-T1</cp:lastModifiedBy>
  <cp:revision>1</cp:revision>
  <dcterms:created xsi:type="dcterms:W3CDTF">2026-06-25T14:52:49Z</dcterms:created>
  <dcterms:modified xsi:type="dcterms:W3CDTF">2026-06-25T14:52:49Z</dcterms:modified>
</cp:coreProperties>
</file>